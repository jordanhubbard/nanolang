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docs/PERSONA.md, README.md, docs/RELEASE_4.4.md.</a:t>
            </a:r>
          </a:p>
          <a:p>
            <a:r>
              <a:t>I describe tested behavior. Work I have not done is labelled as such.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docs/PERSONA.md and docs/CANONICAL_STYLE.md.</a:t>
            </a:r>
          </a:p>
          <a:p>
            <a:r>
              <a:t>This slide carries the thesis. Everything after it is a mechanism serving this claim,</a:t>
            </a:r>
          </a:p>
          <a:p>
            <a:r>
              <a:t>and a reader who does not accept it here will not care about the module format.</a:t>
            </a:r>
          </a:p>
          <a:p>
            <a:r>
              <a:t>PROOF is not decoration: a function without a shadow test does not compile.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docs/NANOISA.md and src/nanovirt/main.c.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spec/nanoisa.yaml, scripts/gen_nanoisa_schema.py, src/nanoisa/assembler.c, src/nanoisa/disassembler.c.</a:t>
            </a:r>
          </a:p>
          <a:p>
            <a:r>
              <a:t>Canonical disassembly reassembles to byte-identical bytecode; make test-disasm-roundtrip.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src/nanoisa/nvm_format_v2.[ch], src/nanoisa/nvm_v2_*.c, docs/NANOISA.md.</a:t>
            </a:r>
          </a:p>
          <a:p>
            <a:r>
              <a:t>Subtraction form is the point: an offset near the top of the range cannot wrap into it.</a:t>
            </a:r>
          </a:p>
          <a:p>
            <a:r>
              <a:t>An explicit length is why a string holding an embedded zero survives a round trip.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src/nanoisa/verifier.c, src/nanoisa/verifier_types.c, tests/nanoisa/test_verifier.c (93 tests).</a:t>
            </a:r>
          </a:p>
          <a:p>
            <a:r>
              <a:t>Every call now carries its signature, so a module is provable before it is linked.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docs/RELEASE_4.0.md and the fix in src/nanoisa/verifier.c.</a:t>
            </a:r>
          </a:p>
          <a:p>
            <a:r>
              <a:t>Fixing it exposed a second bug in the same walk and then eight latent codegen bugs it had hidden.</a:t>
            </a:r>
          </a:p>
          <a:p>
            <a:r>
              <a:t>An unknown effect is now a hard failure: absence of data must not read as proof.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tests/nanoisa/test_fuzz_malformed.c, tests/nanovm/test_cop_fuzz.c, tests/fuzzing/README.md.</a:t>
            </a:r>
          </a:p>
          <a:p>
            <a:r>
              <a:t>784 lines of fuzz and malformed-input tests were added in 4.0 across the six surfaces named here.</a:t>
            </a:r>
          </a:p>
          <a:p>
            <a:r>
              <a:t>Wrapping arithmetic was removed from code-range and section validation, not merely guarded.</a:t>
            </a:r>
          </a:p>
          <a:p>
            <a:r>
              <a:t>This slide is the systemic answer to slide 7: a verifier that is correct is still only one layer.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src/nanovm/vm.c, docs/NANOISA_MEASUREMENTS.md, make test-dispatch-equivalence.</a:t>
            </a:r>
          </a:p>
          <a:p>
            <a:r>
              <a:t>VM_CASE and VM_NEXT are the only difference, so the two strategies cannot drift in what an instruction does.</a:t>
            </a:r>
          </a:p>
          <a:p>
            <a:r>
              <a:t>The threaded build has no loop around the handlers, so a stray break is a compile error rather than a silent exit.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CONTRIBUTING.md and the current test suites, counted at the v4.0.0 tag.</a:t>
            </a:r>
          </a:p>
          <a:p>
            <a:r>
              <a:t>make test-verify-all-programs additionally verifies every program in tests/, because compiling is not verifying.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docs/EXTERN_FFI.md, src/nanovm/vm_ffi.c, src/nanovm/cop_protocol.c, docs/NANOISA_MEASUREMENTS.md.</a:t>
            </a:r>
          </a:p>
          <a:p>
            <a:r>
              <a:t>The FFI boundary is tested; it is not part of the formally verified NanoCore subset.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src/nanovm/heap_cycles.c, Bacon and Rajan (PLDI 2001), tests/nanovm/test_vm.c.</a:t>
            </a:r>
          </a:p>
          <a:p>
            <a:r>
              <a:t>The generated-C runtime already collected cycles; the VM did not, so the two disagreed about whether a program leaks.</a:t>
            </a:r>
          </a:p>
          <a:p>
            <a:r>
              <a:t>The test that matters most is the one where a reachable cycle must survive and still be readable.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docs/NANOISA_MEASUREMENTS.md and scripts/benchmark_nanoisa.sh.</a:t>
            </a:r>
          </a:p>
          <a:p>
            <a:r>
              <a:t>Before 4.0 the suite timed one process per sample, so every workload took about 17 ms whether it retired 78 instructions or 32,082.</a:t>
            </a:r>
          </a:p>
          <a:p>
            <a:r>
              <a:t>It could not have detected an interpreter change of any size, which is why these questions stayed open.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docs/RELEASE_4.4.md, docs/ROADMAP.md, docs/FORTH_2012.md, docs/NSI_FABRIC.md, docs/NANO_EMACS.md.</a:t>
            </a:r>
          </a:p>
          <a:p>
            <a:r>
              <a:t>Catalogs and machine-draft guides exist. JSON/TOON stay English.</a:t>
            </a:r>
          </a:p>
          <a:p>
            <a:r>
              <a:t>The live editor uses bin/nano_emacs_worker, not dlopen.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CONTRIBUTING.md, docs/PERSONA.md, docs/ROADMAP.md.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nanolang-mascot.png"/>
          <p:cNvPicPr>
            <a:picLocks noChangeAspect="1"/>
          </p:cNvPicPr>
          <p:nvPr/>
        </p:nvPicPr>
        <p:blipFill>
          <a:blip r:embed="rId2"/>
          <a:stretch>
            <a:fillRect/>
          </a:stretch>
        </p:blipFill>
        <p:spPr>
          <a:xfrm>
            <a:off x="7315200" y="0"/>
            <a:ext cx="4873752" cy="6858000"/>
          </a:xfrm>
          <a:prstGeom prst="rect">
            <a:avLst/>
          </a:prstGeom>
        </p:spPr>
      </p:pic>
      <p:sp>
        <p:nvSpPr>
          <p:cNvPr id="4" name="Rectangle 3"/>
          <p:cNvSpPr/>
          <p:nvPr/>
        </p:nvSpPr>
        <p:spPr>
          <a:xfrm>
            <a:off x="0" y="0"/>
            <a:ext cx="8321040"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548640"/>
            <a:ext cx="2743200" cy="274320"/>
          </a:xfrm>
          <a:prstGeom prst="rect">
            <a:avLst/>
          </a:prstGeom>
          <a:noFill/>
        </p:spPr>
        <p:txBody>
          <a:bodyPr wrap="square" lIns="45720" rIns="45720" tIns="27432" bIns="27432" anchor="t">
            <a:spAutoFit/>
          </a:bodyPr>
          <a:lstStyle/>
          <a:p>
            <a:r>
              <a:rPr sz="1300" b="1">
                <a:solidFill>
                  <a:srgbClr val="76B900"/>
                </a:solidFill>
                <a:latin typeface="Arial"/>
              </a:rPr>
              <a:t>NANOLANG 4.4</a:t>
            </a:r>
          </a:p>
        </p:txBody>
      </p:sp>
      <p:sp>
        <p:nvSpPr>
          <p:cNvPr id="6" name="TextBox 5"/>
          <p:cNvSpPr txBox="1"/>
          <p:nvPr/>
        </p:nvSpPr>
        <p:spPr>
          <a:xfrm>
            <a:off x="640080" y="1417320"/>
            <a:ext cx="6400800" cy="2286000"/>
          </a:xfrm>
          <a:prstGeom prst="rect">
            <a:avLst/>
          </a:prstGeom>
          <a:noFill/>
        </p:spPr>
        <p:txBody>
          <a:bodyPr wrap="square" lIns="45720" rIns="45720" tIns="27432" bIns="27432" anchor="t">
            <a:spAutoFit/>
          </a:bodyPr>
          <a:lstStyle/>
          <a:p>
            <a:r>
              <a:rPr sz="3400" b="1">
                <a:solidFill>
                  <a:srgbClr val="EEF1F3"/>
                </a:solidFill>
                <a:latin typeface="Arial"/>
              </a:rPr>
              <a:t>I say what I mean.</a:t>
            </a:r>
          </a:p>
          <a:p>
            <a:r>
              <a:rPr sz="3400" b="1">
                <a:solidFill>
                  <a:srgbClr val="EEF1F3"/>
                </a:solidFill>
                <a:latin typeface="Arial"/>
              </a:rPr>
              <a:t>I compile myself.</a:t>
            </a:r>
          </a:p>
          <a:p>
            <a:r>
              <a:rPr sz="3400" b="1">
                <a:solidFill>
                  <a:srgbClr val="EEF1F3"/>
                </a:solidFill>
                <a:latin typeface="Arial"/>
              </a:rPr>
              <a:t>I show my evidence.</a:t>
            </a:r>
          </a:p>
        </p:txBody>
      </p:sp>
      <p:sp>
        <p:nvSpPr>
          <p:cNvPr id="7" name="TextBox 6"/>
          <p:cNvSpPr txBox="1"/>
          <p:nvPr/>
        </p:nvSpPr>
        <p:spPr>
          <a:xfrm>
            <a:off x="685800" y="3977639"/>
            <a:ext cx="6858000" cy="1097280"/>
          </a:xfrm>
          <a:prstGeom prst="rect">
            <a:avLst/>
          </a:prstGeom>
          <a:noFill/>
        </p:spPr>
        <p:txBody>
          <a:bodyPr wrap="square" lIns="45720" rIns="45720" tIns="27432" bIns="27432" anchor="t">
            <a:spAutoFit/>
          </a:bodyPr>
          <a:lstStyle/>
          <a:p>
            <a:r>
              <a:rPr sz="1600" b="0">
                <a:solidFill>
                  <a:srgbClr val="72B7D6"/>
                </a:solidFill>
                <a:latin typeface="Arial"/>
              </a:rPr>
              <a:t>A small language designed to be written by machines and audited by humans.</a:t>
            </a:r>
          </a:p>
          <a:p>
            <a:r>
              <a:rPr sz="1600" b="0">
                <a:solidFill>
                  <a:srgbClr val="72B7D6"/>
                </a:solidFill>
                <a:latin typeface="Arial"/>
              </a:rPr>
              <a:t>A developer's view of my syntax, compiler, NanoISA, NanoVM, NSI, and what my verifier proves.</a:t>
            </a:r>
          </a:p>
        </p:txBody>
      </p:sp>
      <p:sp>
        <p:nvSpPr>
          <p:cNvPr id="8" name="TextBox 7"/>
          <p:cNvSpPr txBox="1"/>
          <p:nvPr/>
        </p:nvSpPr>
        <p:spPr>
          <a:xfrm>
            <a:off x="685800" y="5989320"/>
            <a:ext cx="6583680" cy="274320"/>
          </a:xfrm>
          <a:prstGeom prst="rect">
            <a:avLst/>
          </a:prstGeom>
          <a:noFill/>
        </p:spPr>
        <p:txBody>
          <a:bodyPr wrap="square" lIns="45720" rIns="45720" tIns="27432" bIns="27432" anchor="t">
            <a:spAutoFit/>
          </a:bodyPr>
          <a:lstStyle/>
          <a:p>
            <a:r>
              <a:rPr sz="1300" b="1">
                <a:solidFill>
                  <a:srgbClr val="FF6B35"/>
                </a:solidFill>
                <a:latin typeface="Arial"/>
              </a:rPr>
              <a:t>Verified bytecode · Forth evidence · NSI fabric · isolated editor walker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Machines write code now. The bottleneck is checking it.</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So I refuse ambiguity: one canonical form, explicit boundaries, and evidence required to compile.</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2</a:t>
            </a:r>
          </a:p>
        </p:txBody>
      </p:sp>
      <p:sp>
        <p:nvSpPr>
          <p:cNvPr id="7" name="Rounded Rectangle 6"/>
          <p:cNvSpPr/>
          <p:nvPr/>
        </p:nvSpPr>
        <p:spPr>
          <a:xfrm>
            <a:off x="731520" y="2194560"/>
            <a:ext cx="3200400" cy="182880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468880"/>
            <a:ext cx="2834640" cy="274320"/>
          </a:xfrm>
          <a:prstGeom prst="rect">
            <a:avLst/>
          </a:prstGeom>
          <a:noFill/>
        </p:spPr>
        <p:txBody>
          <a:bodyPr wrap="square" lIns="45720" rIns="45720" tIns="27432" bIns="27432" anchor="t">
            <a:spAutoFit/>
          </a:bodyPr>
          <a:lstStyle/>
          <a:p>
            <a:r>
              <a:rPr sz="1400" b="1">
                <a:solidFill>
                  <a:srgbClr val="FF6B35"/>
                </a:solidFill>
                <a:latin typeface="Arial"/>
              </a:rPr>
              <a:t>PREFIX</a:t>
            </a:r>
          </a:p>
        </p:txBody>
      </p:sp>
      <p:sp>
        <p:nvSpPr>
          <p:cNvPr id="9" name="TextBox 8"/>
          <p:cNvSpPr txBox="1"/>
          <p:nvPr/>
        </p:nvSpPr>
        <p:spPr>
          <a:xfrm>
            <a:off x="914400" y="2971800"/>
            <a:ext cx="2834640" cy="640080"/>
          </a:xfrm>
          <a:prstGeom prst="rect">
            <a:avLst/>
          </a:prstGeom>
          <a:noFill/>
        </p:spPr>
        <p:txBody>
          <a:bodyPr wrap="square" lIns="45720" rIns="45720" tIns="27432" bIns="27432" anchor="t">
            <a:spAutoFit/>
          </a:bodyPr>
          <a:lstStyle/>
          <a:p>
            <a:r>
              <a:rPr sz="2000" b="1">
                <a:solidFill>
                  <a:srgbClr val="EEF1F3"/>
                </a:solidFill>
                <a:latin typeface="Courier New"/>
              </a:rPr>
              <a:t>(f x y)</a:t>
            </a:r>
          </a:p>
        </p:txBody>
      </p:sp>
      <p:sp>
        <p:nvSpPr>
          <p:cNvPr id="10" name="Rounded Rectangle 9"/>
          <p:cNvSpPr/>
          <p:nvPr/>
        </p:nvSpPr>
        <p:spPr>
          <a:xfrm>
            <a:off x="4526280" y="2194560"/>
            <a:ext cx="3200400" cy="182880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60" y="2468880"/>
            <a:ext cx="2834640" cy="274320"/>
          </a:xfrm>
          <a:prstGeom prst="rect">
            <a:avLst/>
          </a:prstGeom>
          <a:noFill/>
        </p:spPr>
        <p:txBody>
          <a:bodyPr wrap="square" lIns="45720" rIns="45720" tIns="27432" bIns="27432" anchor="t">
            <a:spAutoFit/>
          </a:bodyPr>
          <a:lstStyle/>
          <a:p>
            <a:r>
              <a:rPr sz="1400" b="1">
                <a:solidFill>
                  <a:srgbClr val="FF6B35"/>
                </a:solidFill>
                <a:latin typeface="Arial"/>
              </a:rPr>
              <a:t>TYPES</a:t>
            </a:r>
          </a:p>
        </p:txBody>
      </p:sp>
      <p:sp>
        <p:nvSpPr>
          <p:cNvPr id="12" name="TextBox 11"/>
          <p:cNvSpPr txBox="1"/>
          <p:nvPr/>
        </p:nvSpPr>
        <p:spPr>
          <a:xfrm>
            <a:off x="4709160" y="2971800"/>
            <a:ext cx="2834640" cy="640080"/>
          </a:xfrm>
          <a:prstGeom prst="rect">
            <a:avLst/>
          </a:prstGeom>
          <a:noFill/>
        </p:spPr>
        <p:txBody>
          <a:bodyPr wrap="square" lIns="45720" rIns="45720" tIns="27432" bIns="27432" anchor="t">
            <a:spAutoFit/>
          </a:bodyPr>
          <a:lstStyle/>
          <a:p>
            <a:r>
              <a:rPr sz="2000" b="1">
                <a:solidFill>
                  <a:srgbClr val="EEF1F3"/>
                </a:solidFill>
                <a:latin typeface="Courier New"/>
              </a:rPr>
              <a:t>int · float · bool · string</a:t>
            </a:r>
          </a:p>
        </p:txBody>
      </p:sp>
      <p:sp>
        <p:nvSpPr>
          <p:cNvPr id="13" name="Rounded Rectangle 12"/>
          <p:cNvSpPr/>
          <p:nvPr/>
        </p:nvSpPr>
        <p:spPr>
          <a:xfrm>
            <a:off x="8321040" y="2194560"/>
            <a:ext cx="3200400" cy="182880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3920" y="2468880"/>
            <a:ext cx="2834640" cy="274320"/>
          </a:xfrm>
          <a:prstGeom prst="rect">
            <a:avLst/>
          </a:prstGeom>
          <a:noFill/>
        </p:spPr>
        <p:txBody>
          <a:bodyPr wrap="square" lIns="45720" rIns="45720" tIns="27432" bIns="27432" anchor="t">
            <a:spAutoFit/>
          </a:bodyPr>
          <a:lstStyle/>
          <a:p>
            <a:r>
              <a:rPr sz="1400" b="1">
                <a:solidFill>
                  <a:srgbClr val="FF6B35"/>
                </a:solidFill>
                <a:latin typeface="Arial"/>
              </a:rPr>
              <a:t>PROOF</a:t>
            </a:r>
          </a:p>
        </p:txBody>
      </p:sp>
      <p:sp>
        <p:nvSpPr>
          <p:cNvPr id="15" name="TextBox 14"/>
          <p:cNvSpPr txBox="1"/>
          <p:nvPr/>
        </p:nvSpPr>
        <p:spPr>
          <a:xfrm>
            <a:off x="8503920" y="2971800"/>
            <a:ext cx="2834640" cy="640080"/>
          </a:xfrm>
          <a:prstGeom prst="rect">
            <a:avLst/>
          </a:prstGeom>
          <a:noFill/>
        </p:spPr>
        <p:txBody>
          <a:bodyPr wrap="square" lIns="45720" rIns="45720" tIns="27432" bIns="27432" anchor="t">
            <a:spAutoFit/>
          </a:bodyPr>
          <a:lstStyle/>
          <a:p>
            <a:r>
              <a:rPr sz="2000" b="1">
                <a:solidFill>
                  <a:srgbClr val="EEF1F3"/>
                </a:solidFill>
                <a:latin typeface="Courier New"/>
              </a:rPr>
              <a:t>shadow fn { ...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EEF1F3"/>
                </a:solidFill>
                <a:latin typeface="Arial"/>
              </a:rPr>
              <a:t>One source language, two execution paths.</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72B7D6"/>
                </a:solidFill>
                <a:latin typeface="Arial"/>
              </a:rPr>
              <a:t>The C path is my native baseline. NanoISA and NanoVM make the intermediate explicit.</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3</a:t>
            </a:r>
          </a:p>
        </p:txBody>
      </p:sp>
      <p:sp>
        <p:nvSpPr>
          <p:cNvPr id="7" name="Rounded Rectangle 6"/>
          <p:cNvSpPr/>
          <p:nvPr/>
        </p:nvSpPr>
        <p:spPr>
          <a:xfrm>
            <a:off x="685800" y="2377440"/>
            <a:ext cx="2240280" cy="1234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578608"/>
            <a:ext cx="1965960" cy="228600"/>
          </a:xfrm>
          <a:prstGeom prst="rect">
            <a:avLst/>
          </a:prstGeom>
          <a:noFill/>
        </p:spPr>
        <p:txBody>
          <a:bodyPr wrap="square" lIns="45720" rIns="45720" tIns="27432" bIns="27432" anchor="t">
            <a:spAutoFit/>
          </a:bodyPr>
          <a:lstStyle/>
          <a:p>
            <a:r>
              <a:rPr sz="1500" b="1">
                <a:solidFill>
                  <a:srgbClr val="FF6B35"/>
                </a:solidFill>
                <a:latin typeface="Courier New"/>
              </a:rPr>
              <a:t>.nano</a:t>
            </a:r>
          </a:p>
        </p:txBody>
      </p:sp>
      <p:sp>
        <p:nvSpPr>
          <p:cNvPr id="9" name="TextBox 8"/>
          <p:cNvSpPr txBox="1"/>
          <p:nvPr/>
        </p:nvSpPr>
        <p:spPr>
          <a:xfrm>
            <a:off x="822960" y="2926080"/>
            <a:ext cx="1965960" cy="411480"/>
          </a:xfrm>
          <a:prstGeom prst="rect">
            <a:avLst/>
          </a:prstGeom>
          <a:noFill/>
        </p:spPr>
        <p:txBody>
          <a:bodyPr wrap="square" lIns="45720" rIns="45720" tIns="27432" bIns="27432" anchor="t">
            <a:spAutoFit/>
          </a:bodyPr>
          <a:lstStyle/>
          <a:p>
            <a:r>
              <a:rPr sz="1200" b="0">
                <a:solidFill>
                  <a:srgbClr val="EEF1F3"/>
                </a:solidFill>
                <a:latin typeface="Arial"/>
              </a:rPr>
              <a:t>source + shadow tests</a:t>
            </a:r>
          </a:p>
        </p:txBody>
      </p:sp>
      <p:sp>
        <p:nvSpPr>
          <p:cNvPr id="10" name="Rounded Rectangle 9"/>
          <p:cNvSpPr/>
          <p:nvPr/>
        </p:nvSpPr>
        <p:spPr>
          <a:xfrm>
            <a:off x="3474720" y="2377440"/>
            <a:ext cx="2240280" cy="1234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79" y="2578608"/>
            <a:ext cx="1965960" cy="228600"/>
          </a:xfrm>
          <a:prstGeom prst="rect">
            <a:avLst/>
          </a:prstGeom>
          <a:noFill/>
        </p:spPr>
        <p:txBody>
          <a:bodyPr wrap="square" lIns="45720" rIns="45720" tIns="27432" bIns="27432" anchor="t">
            <a:spAutoFit/>
          </a:bodyPr>
          <a:lstStyle/>
          <a:p>
            <a:r>
              <a:rPr sz="1500" b="1">
                <a:solidFill>
                  <a:srgbClr val="72B7D6"/>
                </a:solidFill>
                <a:latin typeface="Courier New"/>
              </a:rPr>
              <a:t>nanoc</a:t>
            </a:r>
          </a:p>
        </p:txBody>
      </p:sp>
      <p:sp>
        <p:nvSpPr>
          <p:cNvPr id="12" name="TextBox 11"/>
          <p:cNvSpPr txBox="1"/>
          <p:nvPr/>
        </p:nvSpPr>
        <p:spPr>
          <a:xfrm>
            <a:off x="3611879" y="2926080"/>
            <a:ext cx="1965960" cy="411480"/>
          </a:xfrm>
          <a:prstGeom prst="rect">
            <a:avLst/>
          </a:prstGeom>
          <a:noFill/>
        </p:spPr>
        <p:txBody>
          <a:bodyPr wrap="square" lIns="45720" rIns="45720" tIns="27432" bIns="27432" anchor="t">
            <a:spAutoFit/>
          </a:bodyPr>
          <a:lstStyle/>
          <a:p>
            <a:r>
              <a:rPr sz="1200" b="0">
                <a:solidFill>
                  <a:srgbClr val="EEF1F3"/>
                </a:solidFill>
                <a:latin typeface="Arial"/>
              </a:rPr>
              <a:t>generated C</a:t>
            </a:r>
          </a:p>
        </p:txBody>
      </p:sp>
      <p:sp>
        <p:nvSpPr>
          <p:cNvPr id="13" name="Rounded Rectangle 12"/>
          <p:cNvSpPr/>
          <p:nvPr/>
        </p:nvSpPr>
        <p:spPr>
          <a:xfrm>
            <a:off x="6263640" y="2377440"/>
            <a:ext cx="2240280" cy="1234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2578608"/>
            <a:ext cx="1965960" cy="228600"/>
          </a:xfrm>
          <a:prstGeom prst="rect">
            <a:avLst/>
          </a:prstGeom>
          <a:noFill/>
        </p:spPr>
        <p:txBody>
          <a:bodyPr wrap="square" lIns="45720" rIns="45720" tIns="27432" bIns="27432" anchor="t">
            <a:spAutoFit/>
          </a:bodyPr>
          <a:lstStyle/>
          <a:p>
            <a:r>
              <a:rPr sz="1500" b="1">
                <a:solidFill>
                  <a:srgbClr val="76B900"/>
                </a:solidFill>
                <a:latin typeface="Courier New"/>
              </a:rPr>
              <a:t>nano_virt</a:t>
            </a:r>
          </a:p>
        </p:txBody>
      </p:sp>
      <p:sp>
        <p:nvSpPr>
          <p:cNvPr id="15" name="TextBox 14"/>
          <p:cNvSpPr txBox="1"/>
          <p:nvPr/>
        </p:nvSpPr>
        <p:spPr>
          <a:xfrm>
            <a:off x="6400800" y="2926080"/>
            <a:ext cx="1965960" cy="411480"/>
          </a:xfrm>
          <a:prstGeom prst="rect">
            <a:avLst/>
          </a:prstGeom>
          <a:noFill/>
        </p:spPr>
        <p:txBody>
          <a:bodyPr wrap="square" lIns="45720" rIns="45720" tIns="27432" bIns="27432" anchor="t">
            <a:spAutoFit/>
          </a:bodyPr>
          <a:lstStyle/>
          <a:p>
            <a:r>
              <a:rPr sz="1200" b="0">
                <a:solidFill>
                  <a:srgbClr val="EEF1F3"/>
                </a:solidFill>
                <a:latin typeface="Arial"/>
              </a:rPr>
              <a:t>NVM bytecode</a:t>
            </a:r>
          </a:p>
        </p:txBody>
      </p:sp>
      <p:sp>
        <p:nvSpPr>
          <p:cNvPr id="16" name="Rounded Rectangle 15"/>
          <p:cNvSpPr/>
          <p:nvPr/>
        </p:nvSpPr>
        <p:spPr>
          <a:xfrm>
            <a:off x="9052559" y="2377440"/>
            <a:ext cx="2240280" cy="1234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9719" y="2578608"/>
            <a:ext cx="1965960" cy="228600"/>
          </a:xfrm>
          <a:prstGeom prst="rect">
            <a:avLst/>
          </a:prstGeom>
          <a:noFill/>
        </p:spPr>
        <p:txBody>
          <a:bodyPr wrap="square" lIns="45720" rIns="45720" tIns="27432" bIns="27432" anchor="t">
            <a:spAutoFit/>
          </a:bodyPr>
          <a:lstStyle/>
          <a:p>
            <a:r>
              <a:rPr sz="1500" b="1">
                <a:solidFill>
                  <a:srgbClr val="EEF1F3"/>
                </a:solidFill>
                <a:latin typeface="Courier New"/>
              </a:rPr>
              <a:t>nano_vm</a:t>
            </a:r>
          </a:p>
        </p:txBody>
      </p:sp>
      <p:sp>
        <p:nvSpPr>
          <p:cNvPr id="18" name="TextBox 17"/>
          <p:cNvSpPr txBox="1"/>
          <p:nvPr/>
        </p:nvSpPr>
        <p:spPr>
          <a:xfrm>
            <a:off x="9189719" y="2926080"/>
            <a:ext cx="1965960" cy="411480"/>
          </a:xfrm>
          <a:prstGeom prst="rect">
            <a:avLst/>
          </a:prstGeom>
          <a:noFill/>
        </p:spPr>
        <p:txBody>
          <a:bodyPr wrap="square" lIns="45720" rIns="45720" tIns="27432" bIns="27432" anchor="t">
            <a:spAutoFit/>
          </a:bodyPr>
          <a:lstStyle/>
          <a:p>
            <a:r>
              <a:rPr sz="1200" b="0">
                <a:solidFill>
                  <a:srgbClr val="EEF1F3"/>
                </a:solidFill>
                <a:latin typeface="Arial"/>
              </a:rPr>
              <a:t>verified execution</a:t>
            </a:r>
          </a:p>
        </p:txBody>
      </p:sp>
      <p:sp>
        <p:nvSpPr>
          <p:cNvPr id="19" name="TextBox 18"/>
          <p:cNvSpPr txBox="1"/>
          <p:nvPr/>
        </p:nvSpPr>
        <p:spPr>
          <a:xfrm>
            <a:off x="3794760" y="4754880"/>
            <a:ext cx="4572000" cy="320040"/>
          </a:xfrm>
          <a:prstGeom prst="rect">
            <a:avLst/>
          </a:prstGeom>
          <a:noFill/>
        </p:spPr>
        <p:txBody>
          <a:bodyPr wrap="square" lIns="45720" rIns="45720" tIns="27432" bIns="27432" anchor="t">
            <a:spAutoFit/>
          </a:bodyPr>
          <a:lstStyle/>
          <a:p>
            <a:pPr algn="ctr"/>
            <a:r>
              <a:rPr sz="2100" b="1">
                <a:solidFill>
                  <a:srgbClr val="FF6B35"/>
                </a:solidFill>
                <a:latin typeface="Courier New"/>
              </a:rPr>
              <a:t>compile → verify → execute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NanoISA is readable bytecode, not a hidden intermediate.</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I keep the serialized module inspectable and use decoded forms only inside execution.</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4</a:t>
            </a:r>
          </a:p>
        </p:txBody>
      </p:sp>
      <p:sp>
        <p:nvSpPr>
          <p:cNvPr id="7" name="Rounded Rectangle 6"/>
          <p:cNvSpPr/>
          <p:nvPr/>
        </p:nvSpPr>
        <p:spPr>
          <a:xfrm>
            <a:off x="685800" y="1920240"/>
            <a:ext cx="5212080" cy="338328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331720"/>
            <a:ext cx="4663440" cy="2011680"/>
          </a:xfrm>
          <a:prstGeom prst="rect">
            <a:avLst/>
          </a:prstGeom>
          <a:noFill/>
        </p:spPr>
        <p:txBody>
          <a:bodyPr wrap="square" lIns="45720" rIns="45720" tIns="27432" bIns="27432" anchor="t">
            <a:spAutoFit/>
          </a:bodyPr>
          <a:lstStyle/>
          <a:p>
            <a:r>
              <a:rPr sz="1700" b="0">
                <a:solidFill>
                  <a:srgbClr val="EEF1F3"/>
                </a:solidFill>
                <a:latin typeface="Courier New"/>
              </a:rPr>
              <a:t>.function main 0 0 0 int 1</a:t>
            </a:r>
          </a:p>
          <a:p>
            <a:r>
              <a:rPr sz="1700" b="0">
                <a:solidFill>
                  <a:srgbClr val="EEF1F3"/>
                </a:solidFill>
                <a:latin typeface="Courier New"/>
              </a:rPr>
              <a:t>  PUSH_I64 40</a:t>
            </a:r>
          </a:p>
          <a:p>
            <a:r>
              <a:rPr sz="1700" b="0">
                <a:solidFill>
                  <a:srgbClr val="EEF1F3"/>
                </a:solidFill>
                <a:latin typeface="Courier New"/>
              </a:rPr>
              <a:t>  PUSH_I64 2</a:t>
            </a:r>
          </a:p>
          <a:p>
            <a:r>
              <a:rPr sz="1700" b="0">
                <a:solidFill>
                  <a:srgbClr val="EEF1F3"/>
                </a:solidFill>
                <a:latin typeface="Courier New"/>
              </a:rPr>
              <a:t>  I64_MUL</a:t>
            </a:r>
          </a:p>
          <a:p>
            <a:r>
              <a:rPr sz="1700" b="0">
                <a:solidFill>
                  <a:srgbClr val="EEF1F3"/>
                </a:solidFill>
                <a:latin typeface="Courier New"/>
              </a:rPr>
              <a:t>  RET</a:t>
            </a:r>
          </a:p>
        </p:txBody>
      </p:sp>
      <p:sp>
        <p:nvSpPr>
          <p:cNvPr id="9" name="Rounded Rectangle 8"/>
          <p:cNvSpPr/>
          <p:nvPr/>
        </p:nvSpPr>
        <p:spPr>
          <a:xfrm>
            <a:off x="6217920" y="1920240"/>
            <a:ext cx="5257800" cy="3383280"/>
          </a:xfrm>
          <a:prstGeom prst="round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60" y="2377440"/>
            <a:ext cx="4572000" cy="1645920"/>
          </a:xfrm>
          <a:prstGeom prst="rect">
            <a:avLst/>
          </a:prstGeom>
          <a:noFill/>
        </p:spPr>
        <p:txBody>
          <a:bodyPr wrap="square" lIns="45720" rIns="45720" tIns="27432" bIns="27432" anchor="t">
            <a:spAutoFit/>
          </a:bodyPr>
          <a:lstStyle/>
          <a:p>
            <a:r>
              <a:rPr sz="2000" b="1">
                <a:solidFill>
                  <a:srgbClr val="76B900"/>
                </a:solidFill>
                <a:latin typeface="Arial"/>
              </a:rPr>
              <a:t>schema → metadata → assembler</a:t>
            </a:r>
          </a:p>
          <a:p/>
          <a:p>
            <a:r>
              <a:rPr sz="2000" b="1">
                <a:solidFill>
                  <a:srgbClr val="76B900"/>
                </a:solidFill>
                <a:latin typeface="Arial"/>
              </a:rPr>
              <a:t>The source of truth is</a:t>
            </a:r>
          </a:p>
          <a:p>
            <a:r>
              <a:rPr sz="2000" b="1">
                <a:solidFill>
                  <a:srgbClr val="76B900"/>
                </a:solidFill>
                <a:latin typeface="Arial"/>
              </a:rPr>
              <a:t>spec/nanoisa.yaml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EEF1F3"/>
                </a:solidFill>
                <a:latin typeface="Arial"/>
              </a:rPr>
              <a:t>My module format carries the instruction set.</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72B7D6"/>
                </a:solidFill>
                <a:latin typeface="Arial"/>
              </a:rPr>
              <a:t>A .nvm file is a v2 container: versioned, bounded, and refused rather than guessed at.</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5</a:t>
            </a:r>
          </a:p>
        </p:txBody>
      </p:sp>
      <p:sp>
        <p:nvSpPr>
          <p:cNvPr id="7" name="Rounded Rectangle 6"/>
          <p:cNvSpPr/>
          <p:nvPr/>
        </p:nvSpPr>
        <p:spPr>
          <a:xfrm>
            <a:off x="685800" y="2148840"/>
            <a:ext cx="2240280" cy="196596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77440"/>
            <a:ext cx="1874519" cy="274320"/>
          </a:xfrm>
          <a:prstGeom prst="rect">
            <a:avLst/>
          </a:prstGeom>
          <a:noFill/>
        </p:spPr>
        <p:txBody>
          <a:bodyPr wrap="square" lIns="45720" rIns="45720" tIns="27432" bIns="27432" anchor="t">
            <a:spAutoFit/>
          </a:bodyPr>
          <a:lstStyle/>
          <a:p>
            <a:r>
              <a:rPr sz="1300" b="1">
                <a:solidFill>
                  <a:srgbClr val="76B900"/>
                </a:solidFill>
                <a:latin typeface="Arial"/>
              </a:rPr>
              <a:t>BOUNDED</a:t>
            </a:r>
          </a:p>
        </p:txBody>
      </p:sp>
      <p:sp>
        <p:nvSpPr>
          <p:cNvPr id="9" name="TextBox 8"/>
          <p:cNvSpPr txBox="1"/>
          <p:nvPr/>
        </p:nvSpPr>
        <p:spPr>
          <a:xfrm>
            <a:off x="868680" y="2834640"/>
            <a:ext cx="1874519" cy="1097280"/>
          </a:xfrm>
          <a:prstGeom prst="rect">
            <a:avLst/>
          </a:prstGeom>
          <a:noFill/>
        </p:spPr>
        <p:txBody>
          <a:bodyPr wrap="square" lIns="45720" rIns="45720" tIns="27432" bIns="27432" anchor="t">
            <a:spAutoFit/>
          </a:bodyPr>
          <a:lstStyle/>
          <a:p>
            <a:r>
              <a:rPr sz="1400" b="0">
                <a:solidFill>
                  <a:srgbClr val="EEF1F3"/>
                </a:solidFill>
                <a:latin typeface="Arial"/>
              </a:rPr>
              <a:t>every range checked</a:t>
            </a:r>
          </a:p>
          <a:p>
            <a:r>
              <a:rPr sz="1400" b="0">
                <a:solidFill>
                  <a:srgbClr val="EEF1F3"/>
                </a:solidFill>
                <a:latin typeface="Arial"/>
              </a:rPr>
              <a:t>by subtraction</a:t>
            </a:r>
          </a:p>
        </p:txBody>
      </p:sp>
      <p:sp>
        <p:nvSpPr>
          <p:cNvPr id="10" name="Rounded Rectangle 9"/>
          <p:cNvSpPr/>
          <p:nvPr/>
        </p:nvSpPr>
        <p:spPr>
          <a:xfrm>
            <a:off x="3474720" y="2148840"/>
            <a:ext cx="2240280" cy="196596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2377440"/>
            <a:ext cx="1874519" cy="274320"/>
          </a:xfrm>
          <a:prstGeom prst="rect">
            <a:avLst/>
          </a:prstGeom>
          <a:noFill/>
        </p:spPr>
        <p:txBody>
          <a:bodyPr wrap="square" lIns="45720" rIns="45720" tIns="27432" bIns="27432" anchor="t">
            <a:spAutoFit/>
          </a:bodyPr>
          <a:lstStyle/>
          <a:p>
            <a:r>
              <a:rPr sz="1300" b="1">
                <a:solidFill>
                  <a:srgbClr val="72B7D6"/>
                </a:solidFill>
                <a:latin typeface="Arial"/>
              </a:rPr>
              <a:t>TYPED</a:t>
            </a:r>
          </a:p>
        </p:txBody>
      </p:sp>
      <p:sp>
        <p:nvSpPr>
          <p:cNvPr id="12" name="TextBox 11"/>
          <p:cNvSpPr txBox="1"/>
          <p:nvPr/>
        </p:nvSpPr>
        <p:spPr>
          <a:xfrm>
            <a:off x="3657600" y="2834640"/>
            <a:ext cx="1874519" cy="1097280"/>
          </a:xfrm>
          <a:prstGeom prst="rect">
            <a:avLst/>
          </a:prstGeom>
          <a:noFill/>
        </p:spPr>
        <p:txBody>
          <a:bodyPr wrap="square" lIns="45720" rIns="45720" tIns="27432" bIns="27432" anchor="t">
            <a:spAutoFit/>
          </a:bodyPr>
          <a:lstStyle/>
          <a:p>
            <a:r>
              <a:rPr sz="1400" b="0">
                <a:solidFill>
                  <a:srgbClr val="EEF1F3"/>
                </a:solidFill>
                <a:latin typeface="Arial"/>
              </a:rPr>
              <a:t>signatures deduplicated,</a:t>
            </a:r>
          </a:p>
          <a:p>
            <a:r>
              <a:rPr sz="1400" b="0">
                <a:solidFill>
                  <a:srgbClr val="EEF1F3"/>
                </a:solidFill>
                <a:latin typeface="Arial"/>
              </a:rPr>
              <a:t>indices comparable</a:t>
            </a:r>
          </a:p>
        </p:txBody>
      </p:sp>
      <p:sp>
        <p:nvSpPr>
          <p:cNvPr id="13" name="Rounded Rectangle 12"/>
          <p:cNvSpPr/>
          <p:nvPr/>
        </p:nvSpPr>
        <p:spPr>
          <a:xfrm>
            <a:off x="6263640" y="2148840"/>
            <a:ext cx="2240280" cy="196596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377440"/>
            <a:ext cx="1874519" cy="274320"/>
          </a:xfrm>
          <a:prstGeom prst="rect">
            <a:avLst/>
          </a:prstGeom>
          <a:noFill/>
        </p:spPr>
        <p:txBody>
          <a:bodyPr wrap="square" lIns="45720" rIns="45720" tIns="27432" bIns="27432" anchor="t">
            <a:spAutoFit/>
          </a:bodyPr>
          <a:lstStyle/>
          <a:p>
            <a:r>
              <a:rPr sz="1300" b="1">
                <a:solidFill>
                  <a:srgbClr val="FF6B35"/>
                </a:solidFill>
                <a:latin typeface="Arial"/>
              </a:rPr>
              <a:t>ACYCLIC</a:t>
            </a:r>
          </a:p>
        </p:txBody>
      </p:sp>
      <p:sp>
        <p:nvSpPr>
          <p:cNvPr id="15" name="TextBox 14"/>
          <p:cNvSpPr txBox="1"/>
          <p:nvPr/>
        </p:nvSpPr>
        <p:spPr>
          <a:xfrm>
            <a:off x="6446520" y="2834640"/>
            <a:ext cx="1874519" cy="1097280"/>
          </a:xfrm>
          <a:prstGeom prst="rect">
            <a:avLst/>
          </a:prstGeom>
          <a:noFill/>
        </p:spPr>
        <p:txBody>
          <a:bodyPr wrap="square" lIns="45720" rIns="45720" tIns="27432" bIns="27432" anchor="t">
            <a:spAutoFit/>
          </a:bodyPr>
          <a:lstStyle/>
          <a:p>
            <a:r>
              <a:rPr sz="1400" b="0">
                <a:solidFill>
                  <a:srgbClr val="EEF1F3"/>
                </a:solidFill>
                <a:latin typeface="Arial"/>
              </a:rPr>
              <a:t>layouts nest only</a:t>
            </a:r>
          </a:p>
          <a:p>
            <a:r>
              <a:rPr sz="1400" b="0">
                <a:solidFill>
                  <a:srgbClr val="EEF1F3"/>
                </a:solidFill>
                <a:latin typeface="Arial"/>
              </a:rPr>
              <a:t>downward</a:t>
            </a:r>
          </a:p>
        </p:txBody>
      </p:sp>
      <p:sp>
        <p:nvSpPr>
          <p:cNvPr id="16" name="Rounded Rectangle 15"/>
          <p:cNvSpPr/>
          <p:nvPr/>
        </p:nvSpPr>
        <p:spPr>
          <a:xfrm>
            <a:off x="9052559" y="2148840"/>
            <a:ext cx="2240280" cy="196596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39" y="2377440"/>
            <a:ext cx="1874519" cy="274320"/>
          </a:xfrm>
          <a:prstGeom prst="rect">
            <a:avLst/>
          </a:prstGeom>
          <a:noFill/>
        </p:spPr>
        <p:txBody>
          <a:bodyPr wrap="square" lIns="45720" rIns="45720" tIns="27432" bIns="27432" anchor="t">
            <a:spAutoFit/>
          </a:bodyPr>
          <a:lstStyle/>
          <a:p>
            <a:r>
              <a:rPr sz="1300" b="1">
                <a:solidFill>
                  <a:srgbClr val="EEF1F3"/>
                </a:solidFill>
                <a:latin typeface="Arial"/>
              </a:rPr>
              <a:t>EXACT</a:t>
            </a:r>
          </a:p>
        </p:txBody>
      </p:sp>
      <p:sp>
        <p:nvSpPr>
          <p:cNvPr id="18" name="TextBox 17"/>
          <p:cNvSpPr txBox="1"/>
          <p:nvPr/>
        </p:nvSpPr>
        <p:spPr>
          <a:xfrm>
            <a:off x="9235439" y="2834640"/>
            <a:ext cx="1874519" cy="1097280"/>
          </a:xfrm>
          <a:prstGeom prst="rect">
            <a:avLst/>
          </a:prstGeom>
          <a:noFill/>
        </p:spPr>
        <p:txBody>
          <a:bodyPr wrap="square" lIns="45720" rIns="45720" tIns="27432" bIns="27432" anchor="t">
            <a:spAutoFit/>
          </a:bodyPr>
          <a:lstStyle/>
          <a:p>
            <a:r>
              <a:rPr sz="1400" b="0">
                <a:solidFill>
                  <a:srgbClr val="EEF1F3"/>
                </a:solidFill>
                <a:latin typeface="Arial"/>
              </a:rPr>
              <a:t>constants carry</a:t>
            </a:r>
          </a:p>
          <a:p>
            <a:r>
              <a:rPr sz="1400" b="0">
                <a:solidFill>
                  <a:srgbClr val="EEF1F3"/>
                </a:solidFill>
                <a:latin typeface="Arial"/>
              </a:rPr>
              <a:t>explicit lengths</a:t>
            </a:r>
          </a:p>
        </p:txBody>
      </p:sp>
      <p:sp>
        <p:nvSpPr>
          <p:cNvPr id="19" name="TextBox 18"/>
          <p:cNvSpPr txBox="1"/>
          <p:nvPr/>
        </p:nvSpPr>
        <p:spPr>
          <a:xfrm>
            <a:off x="1828800" y="4892040"/>
            <a:ext cx="8503920" cy="365760"/>
          </a:xfrm>
          <a:prstGeom prst="rect">
            <a:avLst/>
          </a:prstGeom>
          <a:noFill/>
        </p:spPr>
        <p:txBody>
          <a:bodyPr wrap="square" lIns="45720" rIns="45720" tIns="27432" bIns="27432" anchor="t">
            <a:spAutoFit/>
          </a:bodyPr>
          <a:lstStyle/>
          <a:p>
            <a:pPr algn="ctr"/>
            <a:r>
              <a:rPr sz="1700" b="1">
                <a:solidFill>
                  <a:srgbClr val="FF6B35"/>
                </a:solidFill>
                <a:latin typeface="Courier New"/>
              </a:rPr>
              <a:t>ten sections · a malformed module is refused, never guessed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My verifier proves a program before it runs.</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Each property below was a run-time trap. Now it is a rejection.</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6</a:t>
            </a:r>
          </a:p>
        </p:txBody>
      </p:sp>
      <p:sp>
        <p:nvSpPr>
          <p:cNvPr id="7" name="Rounded Rectangle 6"/>
          <p:cNvSpPr/>
          <p:nvPr/>
        </p:nvSpPr>
        <p:spPr>
          <a:xfrm>
            <a:off x="822960" y="1783080"/>
            <a:ext cx="10515600" cy="603504"/>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38528"/>
            <a:ext cx="2651760" cy="274320"/>
          </a:xfrm>
          <a:prstGeom prst="rect">
            <a:avLst/>
          </a:prstGeom>
          <a:noFill/>
        </p:spPr>
        <p:txBody>
          <a:bodyPr wrap="square" lIns="45720" rIns="45720" tIns="27432" bIns="27432" anchor="t">
            <a:spAutoFit/>
          </a:bodyPr>
          <a:lstStyle/>
          <a:p>
            <a:r>
              <a:rPr sz="1500" b="1">
                <a:solidFill>
                  <a:srgbClr val="76B900"/>
                </a:solidFill>
                <a:latin typeface="Arial"/>
              </a:rPr>
              <a:t>stack height</a:t>
            </a:r>
          </a:p>
        </p:txBody>
      </p:sp>
      <p:sp>
        <p:nvSpPr>
          <p:cNvPr id="9" name="TextBox 8"/>
          <p:cNvSpPr txBox="1"/>
          <p:nvPr/>
        </p:nvSpPr>
        <p:spPr>
          <a:xfrm>
            <a:off x="3931920" y="1938528"/>
            <a:ext cx="7223760" cy="274320"/>
          </a:xfrm>
          <a:prstGeom prst="rect">
            <a:avLst/>
          </a:prstGeom>
          <a:noFill/>
        </p:spPr>
        <p:txBody>
          <a:bodyPr wrap="square" lIns="45720" rIns="45720" tIns="27432" bIns="27432" anchor="t">
            <a:spAutoFit/>
          </a:bodyPr>
          <a:lstStyle/>
          <a:p>
            <a:r>
              <a:rPr sz="1400" b="0">
                <a:solidFill>
                  <a:srgbClr val="EEF1F3"/>
                </a:solidFill>
                <a:latin typeface="Arial"/>
              </a:rPr>
              <a:t>through every basic block, merges must agree</a:t>
            </a:r>
          </a:p>
        </p:txBody>
      </p:sp>
      <p:sp>
        <p:nvSpPr>
          <p:cNvPr id="10" name="Rounded Rectangle 9"/>
          <p:cNvSpPr/>
          <p:nvPr/>
        </p:nvSpPr>
        <p:spPr>
          <a:xfrm>
            <a:off x="822960" y="2532888"/>
            <a:ext cx="10515600" cy="603504"/>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88336"/>
            <a:ext cx="2651760" cy="274320"/>
          </a:xfrm>
          <a:prstGeom prst="rect">
            <a:avLst/>
          </a:prstGeom>
          <a:noFill/>
        </p:spPr>
        <p:txBody>
          <a:bodyPr wrap="square" lIns="45720" rIns="45720" tIns="27432" bIns="27432" anchor="t">
            <a:spAutoFit/>
          </a:bodyPr>
          <a:lstStyle/>
          <a:p>
            <a:r>
              <a:rPr sz="1500" b="1">
                <a:solidFill>
                  <a:srgbClr val="76B900"/>
                </a:solidFill>
                <a:latin typeface="Arial"/>
              </a:rPr>
              <a:t>operand types</a:t>
            </a:r>
          </a:p>
        </p:txBody>
      </p:sp>
      <p:sp>
        <p:nvSpPr>
          <p:cNvPr id="12" name="TextBox 11"/>
          <p:cNvSpPr txBox="1"/>
          <p:nvPr/>
        </p:nvSpPr>
        <p:spPr>
          <a:xfrm>
            <a:off x="3931920" y="2688336"/>
            <a:ext cx="7223760" cy="274320"/>
          </a:xfrm>
          <a:prstGeom prst="rect">
            <a:avLst/>
          </a:prstGeom>
          <a:noFill/>
        </p:spPr>
        <p:txBody>
          <a:bodyPr wrap="square" lIns="45720" rIns="45720" tIns="27432" bIns="27432" anchor="t">
            <a:spAutoFit/>
          </a:bodyPr>
          <a:lstStyle/>
          <a:p>
            <a:r>
              <a:rPr sz="1400" b="0">
                <a:solidFill>
                  <a:srgbClr val="EEF1F3"/>
                </a:solidFill>
                <a:latin typeface="Arial"/>
              </a:rPr>
              <a:t>a known contradiction is refused; unknown never fails</a:t>
            </a:r>
          </a:p>
        </p:txBody>
      </p:sp>
      <p:sp>
        <p:nvSpPr>
          <p:cNvPr id="13" name="Rounded Rectangle 12"/>
          <p:cNvSpPr/>
          <p:nvPr/>
        </p:nvSpPr>
        <p:spPr>
          <a:xfrm>
            <a:off x="822960" y="3282696"/>
            <a:ext cx="10515600" cy="603504"/>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438144"/>
            <a:ext cx="2651760" cy="274320"/>
          </a:xfrm>
          <a:prstGeom prst="rect">
            <a:avLst/>
          </a:prstGeom>
          <a:noFill/>
        </p:spPr>
        <p:txBody>
          <a:bodyPr wrap="square" lIns="45720" rIns="45720" tIns="27432" bIns="27432" anchor="t">
            <a:spAutoFit/>
          </a:bodyPr>
          <a:lstStyle/>
          <a:p>
            <a:r>
              <a:rPr sz="1500" b="1">
                <a:solidFill>
                  <a:srgbClr val="76B900"/>
                </a:solidFill>
                <a:latin typeface="Arial"/>
              </a:rPr>
              <a:t>return shape</a:t>
            </a:r>
          </a:p>
        </p:txBody>
      </p:sp>
      <p:sp>
        <p:nvSpPr>
          <p:cNvPr id="15" name="TextBox 14"/>
          <p:cNvSpPr txBox="1"/>
          <p:nvPr/>
        </p:nvSpPr>
        <p:spPr>
          <a:xfrm>
            <a:off x="3931920" y="3438144"/>
            <a:ext cx="7223760" cy="274320"/>
          </a:xfrm>
          <a:prstGeom prst="rect">
            <a:avLst/>
          </a:prstGeom>
          <a:noFill/>
        </p:spPr>
        <p:txBody>
          <a:bodyPr wrap="square" lIns="45720" rIns="45720" tIns="27432" bIns="27432" anchor="t">
            <a:spAutoFit/>
          </a:bodyPr>
          <a:lstStyle/>
          <a:p>
            <a:r>
              <a:rPr sz="1400" b="0">
                <a:solidFill>
                  <a:srgbClr val="EEF1F3"/>
                </a:solidFill>
                <a:latin typeface="Arial"/>
              </a:rPr>
              <a:t>every exit leaves exactly what the function declares</a:t>
            </a:r>
          </a:p>
        </p:txBody>
      </p:sp>
      <p:sp>
        <p:nvSpPr>
          <p:cNvPr id="16" name="Rounded Rectangle 15"/>
          <p:cNvSpPr/>
          <p:nvPr/>
        </p:nvSpPr>
        <p:spPr>
          <a:xfrm>
            <a:off x="822960" y="4032504"/>
            <a:ext cx="10515600" cy="603504"/>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187952"/>
            <a:ext cx="2651760" cy="274320"/>
          </a:xfrm>
          <a:prstGeom prst="rect">
            <a:avLst/>
          </a:prstGeom>
          <a:noFill/>
        </p:spPr>
        <p:txBody>
          <a:bodyPr wrap="square" lIns="45720" rIns="45720" tIns="27432" bIns="27432" anchor="t">
            <a:spAutoFit/>
          </a:bodyPr>
          <a:lstStyle/>
          <a:p>
            <a:r>
              <a:rPr sz="1500" b="1">
                <a:solidFill>
                  <a:srgbClr val="76B900"/>
                </a:solidFill>
                <a:latin typeface="Arial"/>
              </a:rPr>
              <a:t>operand depth</a:t>
            </a:r>
          </a:p>
        </p:txBody>
      </p:sp>
      <p:sp>
        <p:nvSpPr>
          <p:cNvPr id="18" name="TextBox 17"/>
          <p:cNvSpPr txBox="1"/>
          <p:nvPr/>
        </p:nvSpPr>
        <p:spPr>
          <a:xfrm>
            <a:off x="3931920" y="4187952"/>
            <a:ext cx="7223760" cy="274320"/>
          </a:xfrm>
          <a:prstGeom prst="rect">
            <a:avLst/>
          </a:prstGeom>
          <a:noFill/>
        </p:spPr>
        <p:txBody>
          <a:bodyPr wrap="square" lIns="45720" rIns="45720" tIns="27432" bIns="27432" anchor="t">
            <a:spAutoFit/>
          </a:bodyPr>
          <a:lstStyle/>
          <a:p>
            <a:r>
              <a:rPr sz="1400" b="0">
                <a:solidFill>
                  <a:srgbClr val="EEF1F3"/>
                </a:solidFill>
                <a:latin typeface="Arial"/>
              </a:rPr>
              <a:t>producer declares it, loader confirms it</a:t>
            </a:r>
          </a:p>
        </p:txBody>
      </p:sp>
      <p:sp>
        <p:nvSpPr>
          <p:cNvPr id="19" name="Rounded Rectangle 18"/>
          <p:cNvSpPr/>
          <p:nvPr/>
        </p:nvSpPr>
        <p:spPr>
          <a:xfrm>
            <a:off x="822960" y="4782312"/>
            <a:ext cx="10515600" cy="603504"/>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937759"/>
            <a:ext cx="2651760" cy="274320"/>
          </a:xfrm>
          <a:prstGeom prst="rect">
            <a:avLst/>
          </a:prstGeom>
          <a:noFill/>
        </p:spPr>
        <p:txBody>
          <a:bodyPr wrap="square" lIns="45720" rIns="45720" tIns="27432" bIns="27432" anchor="t">
            <a:spAutoFit/>
          </a:bodyPr>
          <a:lstStyle/>
          <a:p>
            <a:r>
              <a:rPr sz="1500" b="1">
                <a:solidFill>
                  <a:srgbClr val="76B900"/>
                </a:solidFill>
                <a:latin typeface="Arial"/>
              </a:rPr>
              <a:t>ownership</a:t>
            </a:r>
          </a:p>
        </p:txBody>
      </p:sp>
      <p:sp>
        <p:nvSpPr>
          <p:cNvPr id="21" name="TextBox 20"/>
          <p:cNvSpPr txBox="1"/>
          <p:nvPr/>
        </p:nvSpPr>
        <p:spPr>
          <a:xfrm>
            <a:off x="3931920" y="4937759"/>
            <a:ext cx="7223760" cy="274320"/>
          </a:xfrm>
          <a:prstGeom prst="rect">
            <a:avLst/>
          </a:prstGeom>
          <a:noFill/>
        </p:spPr>
        <p:txBody>
          <a:bodyPr wrap="square" lIns="45720" rIns="45720" tIns="27432" bIns="27432" anchor="t">
            <a:spAutoFit/>
          </a:bodyPr>
          <a:lstStyle/>
          <a:p>
            <a:r>
              <a:rPr sz="1400" b="0">
                <a:solidFill>
                  <a:srgbClr val="EEF1F3"/>
                </a:solidFill>
                <a:latin typeface="Arial"/>
              </a:rPr>
              <a:t>retain and release must balance on every path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EEF1F3"/>
                </a:solidFill>
                <a:latin typeface="Arial"/>
              </a:rPr>
              <a:t>What my verifier used to miss.</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72B7D6"/>
                </a:solidFill>
                <a:latin typeface="Arial"/>
              </a:rPr>
              <a:t>It declared stack effects for 32 of its 161 instructions and skipped the rest.</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7</a:t>
            </a:r>
          </a:p>
        </p:txBody>
      </p:sp>
      <p:sp>
        <p:nvSpPr>
          <p:cNvPr id="7" name="Rounded Rectangle 6"/>
          <p:cNvSpPr/>
          <p:nvPr/>
        </p:nvSpPr>
        <p:spPr>
          <a:xfrm>
            <a:off x="731520" y="1874519"/>
            <a:ext cx="5577840" cy="3520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240280"/>
            <a:ext cx="5029200" cy="2377440"/>
          </a:xfrm>
          <a:prstGeom prst="rect">
            <a:avLst/>
          </a:prstGeom>
          <a:noFill/>
        </p:spPr>
        <p:txBody>
          <a:bodyPr wrap="square" lIns="45720" rIns="45720" tIns="27432" bIns="27432" anchor="t">
            <a:spAutoFit/>
          </a:bodyPr>
          <a:lstStyle/>
          <a:p>
            <a:r>
              <a:rPr sz="1700" b="0">
                <a:solidFill>
                  <a:srgbClr val="EEF1F3"/>
                </a:solidFill>
                <a:latin typeface="Courier New"/>
              </a:rPr>
              <a:t>PUSH_I64 1</a:t>
            </a:r>
          </a:p>
          <a:p>
            <a:r>
              <a:rPr sz="1700" b="0">
                <a:solidFill>
                  <a:srgbClr val="EEF1F3"/>
                </a:solidFill>
                <a:latin typeface="Courier New"/>
              </a:rPr>
              <a:t>I64_ADD    ; no declared effect</a:t>
            </a:r>
          </a:p>
          <a:p>
            <a:r>
              <a:rPr sz="1700" b="0">
                <a:solidFill>
                  <a:srgbClr val="EEF1F3"/>
                </a:solidFill>
                <a:latin typeface="Courier New"/>
              </a:rPr>
              <a:t>POP</a:t>
            </a:r>
          </a:p>
          <a:p>
            <a:r>
              <a:rPr sz="1700" b="0">
                <a:solidFill>
                  <a:srgbClr val="EEF1F3"/>
                </a:solidFill>
                <a:latin typeface="Courier New"/>
              </a:rPr>
              <a:t>POP</a:t>
            </a:r>
          </a:p>
          <a:p>
            <a:r>
              <a:rPr sz="1700" b="0">
                <a:solidFill>
                  <a:srgbClr val="EEF1F3"/>
                </a:solidFill>
                <a:latin typeface="Courier New"/>
              </a:rPr>
              <a:t>POP        ; stack held one</a:t>
            </a:r>
          </a:p>
          <a:p>
            <a:r>
              <a:rPr sz="1700" b="0">
                <a:solidFill>
                  <a:srgbClr val="EEF1F3"/>
                </a:solidFill>
                <a:latin typeface="Courier New"/>
              </a:rPr>
              <a:t>RET</a:t>
            </a:r>
          </a:p>
        </p:txBody>
      </p:sp>
      <p:sp>
        <p:nvSpPr>
          <p:cNvPr id="9" name="TextBox 8"/>
          <p:cNvSpPr txBox="1"/>
          <p:nvPr/>
        </p:nvSpPr>
        <p:spPr>
          <a:xfrm>
            <a:off x="1005840" y="4709160"/>
            <a:ext cx="5029200" cy="365760"/>
          </a:xfrm>
          <a:prstGeom prst="rect">
            <a:avLst/>
          </a:prstGeom>
          <a:noFill/>
        </p:spPr>
        <p:txBody>
          <a:bodyPr wrap="square" lIns="45720" rIns="45720" tIns="27432" bIns="27432" anchor="t">
            <a:spAutoFit/>
          </a:bodyPr>
          <a:lstStyle/>
          <a:p>
            <a:r>
              <a:rPr sz="1800" b="1">
                <a:solidFill>
                  <a:srgbClr val="FF6B35"/>
                </a:solidFill>
                <a:latin typeface="Courier New"/>
              </a:rPr>
              <a:t>verified ok</a:t>
            </a:r>
          </a:p>
        </p:txBody>
      </p:sp>
      <p:sp>
        <p:nvSpPr>
          <p:cNvPr id="10" name="Rounded Rectangle 9"/>
          <p:cNvSpPr/>
          <p:nvPr/>
        </p:nvSpPr>
        <p:spPr>
          <a:xfrm>
            <a:off x="6629400" y="1874519"/>
            <a:ext cx="4846320" cy="3520440"/>
          </a:xfrm>
          <a:prstGeom prst="round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2240280"/>
            <a:ext cx="4206240" cy="2834640"/>
          </a:xfrm>
          <a:prstGeom prst="rect">
            <a:avLst/>
          </a:prstGeom>
          <a:noFill/>
        </p:spPr>
        <p:txBody>
          <a:bodyPr wrap="square" lIns="45720" rIns="45720" tIns="27432" bIns="27432" anchor="t">
            <a:spAutoFit/>
          </a:bodyPr>
          <a:lstStyle/>
          <a:p>
            <a:r>
              <a:rPr sz="1700" b="1">
                <a:solidFill>
                  <a:srgbClr val="EEF1F3"/>
                </a:solidFill>
                <a:latin typeface="Arial"/>
              </a:rPr>
              <a:t>Skipping an instruction</a:t>
            </a:r>
          </a:p>
          <a:p>
            <a:r>
              <a:rPr sz="1700" b="1">
                <a:solidFill>
                  <a:srgbClr val="EEF1F3"/>
                </a:solidFill>
                <a:latin typeface="Arial"/>
              </a:rPr>
              <a:t>also skipped its successors,</a:t>
            </a:r>
          </a:p>
          <a:p>
            <a:r>
              <a:rPr sz="1700" b="1">
                <a:solidFill>
                  <a:srgbClr val="EEF1F3"/>
                </a:solidFill>
                <a:latin typeface="Arial"/>
              </a:rPr>
              <a:t>so the walk stopped there</a:t>
            </a:r>
          </a:p>
          <a:p>
            <a:r>
              <a:rPr sz="1700" b="1">
                <a:solidFill>
                  <a:srgbClr val="EEF1F3"/>
                </a:solidFill>
                <a:latin typeface="Arial"/>
              </a:rPr>
              <a:t>and everything after it</a:t>
            </a:r>
          </a:p>
          <a:p>
            <a:r>
              <a:rPr sz="1700" b="1">
                <a:solidFill>
                  <a:srgbClr val="EEF1F3"/>
                </a:solidFill>
                <a:latin typeface="Arial"/>
              </a:rPr>
              <a:t>went unchecked.</a:t>
            </a:r>
          </a:p>
          <a:p/>
          <a:p>
            <a:r>
              <a:rPr sz="1700" b="1">
                <a:solidFill>
                  <a:srgbClr val="EEF1F3"/>
                </a:solidFill>
                <a:latin typeface="Arial"/>
              </a:rPr>
              <a:t>Absence of evidence was</a:t>
            </a:r>
          </a:p>
          <a:p>
            <a:r>
              <a:rPr sz="1700" b="1">
                <a:solidFill>
                  <a:srgbClr val="EEF1F3"/>
                </a:solidFill>
                <a:latin typeface="Arial"/>
              </a:rPr>
              <a:t>indistinguishable from proof.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I treat every module as hostile input.</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The verifier is one defence. The parsers underneath it are the other, and they are fuzzed.</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8</a:t>
            </a:r>
          </a:p>
        </p:txBody>
      </p:sp>
      <p:sp>
        <p:nvSpPr>
          <p:cNvPr id="7" name="Rounded Rectangle 6"/>
          <p:cNvSpPr/>
          <p:nvPr/>
        </p:nvSpPr>
        <p:spPr>
          <a:xfrm>
            <a:off x="777240" y="1874519"/>
            <a:ext cx="3337560" cy="585216"/>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39112"/>
            <a:ext cx="2926080" cy="274320"/>
          </a:xfrm>
          <a:prstGeom prst="rect">
            <a:avLst/>
          </a:prstGeom>
          <a:noFill/>
        </p:spPr>
        <p:txBody>
          <a:bodyPr wrap="square" lIns="45720" rIns="45720" tIns="27432" bIns="27432" anchor="t">
            <a:spAutoFit/>
          </a:bodyPr>
          <a:lstStyle/>
          <a:p>
            <a:r>
              <a:rPr sz="1600" b="1">
                <a:solidFill>
                  <a:srgbClr val="76B900"/>
                </a:solidFill>
                <a:latin typeface="Courier New"/>
              </a:rPr>
              <a:t>decoder</a:t>
            </a:r>
          </a:p>
        </p:txBody>
      </p:sp>
      <p:sp>
        <p:nvSpPr>
          <p:cNvPr id="9" name="Rounded Rectangle 8"/>
          <p:cNvSpPr/>
          <p:nvPr/>
        </p:nvSpPr>
        <p:spPr>
          <a:xfrm>
            <a:off x="4389120" y="1874519"/>
            <a:ext cx="3337560" cy="585216"/>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039112"/>
            <a:ext cx="2926080" cy="274320"/>
          </a:xfrm>
          <a:prstGeom prst="rect">
            <a:avLst/>
          </a:prstGeom>
          <a:noFill/>
        </p:spPr>
        <p:txBody>
          <a:bodyPr wrap="square" lIns="45720" rIns="45720" tIns="27432" bIns="27432" anchor="t">
            <a:spAutoFit/>
          </a:bodyPr>
          <a:lstStyle/>
          <a:p>
            <a:r>
              <a:rPr sz="1600" b="1">
                <a:solidFill>
                  <a:srgbClr val="76B900"/>
                </a:solidFill>
                <a:latin typeface="Courier New"/>
              </a:rPr>
              <a:t>loader</a:t>
            </a:r>
          </a:p>
        </p:txBody>
      </p:sp>
      <p:sp>
        <p:nvSpPr>
          <p:cNvPr id="11" name="Rounded Rectangle 10"/>
          <p:cNvSpPr/>
          <p:nvPr/>
        </p:nvSpPr>
        <p:spPr>
          <a:xfrm>
            <a:off x="8001000" y="1874519"/>
            <a:ext cx="3337560" cy="585216"/>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2039112"/>
            <a:ext cx="2926080" cy="274320"/>
          </a:xfrm>
          <a:prstGeom prst="rect">
            <a:avLst/>
          </a:prstGeom>
          <a:noFill/>
        </p:spPr>
        <p:txBody>
          <a:bodyPr wrap="square" lIns="45720" rIns="45720" tIns="27432" bIns="27432" anchor="t">
            <a:spAutoFit/>
          </a:bodyPr>
          <a:lstStyle/>
          <a:p>
            <a:r>
              <a:rPr sz="1600" b="1">
                <a:solidFill>
                  <a:srgbClr val="76B900"/>
                </a:solidFill>
                <a:latin typeface="Courier New"/>
              </a:rPr>
              <a:t>verifier</a:t>
            </a:r>
          </a:p>
        </p:txBody>
      </p:sp>
      <p:sp>
        <p:nvSpPr>
          <p:cNvPr id="13" name="Rounded Rectangle 12"/>
          <p:cNvSpPr/>
          <p:nvPr/>
        </p:nvSpPr>
        <p:spPr>
          <a:xfrm>
            <a:off x="777240" y="2624327"/>
            <a:ext cx="3337560" cy="585216"/>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788920"/>
            <a:ext cx="2926080" cy="274320"/>
          </a:xfrm>
          <a:prstGeom prst="rect">
            <a:avLst/>
          </a:prstGeom>
          <a:noFill/>
        </p:spPr>
        <p:txBody>
          <a:bodyPr wrap="square" lIns="45720" rIns="45720" tIns="27432" bIns="27432" anchor="t">
            <a:spAutoFit/>
          </a:bodyPr>
          <a:lstStyle/>
          <a:p>
            <a:r>
              <a:rPr sz="1600" b="1">
                <a:solidFill>
                  <a:srgbClr val="76B900"/>
                </a:solidFill>
                <a:latin typeface="Courier New"/>
              </a:rPr>
              <a:t>assembler</a:t>
            </a:r>
          </a:p>
        </p:txBody>
      </p:sp>
      <p:sp>
        <p:nvSpPr>
          <p:cNvPr id="15" name="Rounded Rectangle 14"/>
          <p:cNvSpPr/>
          <p:nvPr/>
        </p:nvSpPr>
        <p:spPr>
          <a:xfrm>
            <a:off x="4389120" y="2624327"/>
            <a:ext cx="3337560" cy="585216"/>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788920"/>
            <a:ext cx="2926080" cy="274320"/>
          </a:xfrm>
          <a:prstGeom prst="rect">
            <a:avLst/>
          </a:prstGeom>
          <a:noFill/>
        </p:spPr>
        <p:txBody>
          <a:bodyPr wrap="square" lIns="45720" rIns="45720" tIns="27432" bIns="27432" anchor="t">
            <a:spAutoFit/>
          </a:bodyPr>
          <a:lstStyle/>
          <a:p>
            <a:r>
              <a:rPr sz="1600" b="1">
                <a:solidFill>
                  <a:srgbClr val="76B900"/>
                </a:solidFill>
                <a:latin typeface="Courier New"/>
              </a:rPr>
              <a:t>disassembler</a:t>
            </a:r>
          </a:p>
        </p:txBody>
      </p:sp>
      <p:sp>
        <p:nvSpPr>
          <p:cNvPr id="17" name="Rounded Rectangle 16"/>
          <p:cNvSpPr/>
          <p:nvPr/>
        </p:nvSpPr>
        <p:spPr>
          <a:xfrm>
            <a:off x="8001000" y="2624327"/>
            <a:ext cx="3337560" cy="585216"/>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0" y="2788920"/>
            <a:ext cx="2926080" cy="274320"/>
          </a:xfrm>
          <a:prstGeom prst="rect">
            <a:avLst/>
          </a:prstGeom>
          <a:noFill/>
        </p:spPr>
        <p:txBody>
          <a:bodyPr wrap="square" lIns="45720" rIns="45720" tIns="27432" bIns="27432" anchor="t">
            <a:spAutoFit/>
          </a:bodyPr>
          <a:lstStyle/>
          <a:p>
            <a:r>
              <a:rPr sz="1600" b="1">
                <a:solidFill>
                  <a:srgbClr val="76B900"/>
                </a:solidFill>
                <a:latin typeface="Courier New"/>
              </a:rPr>
              <a:t>co-process</a:t>
            </a:r>
          </a:p>
        </p:txBody>
      </p:sp>
      <p:sp>
        <p:nvSpPr>
          <p:cNvPr id="19" name="Rounded Rectangle 18"/>
          <p:cNvSpPr/>
          <p:nvPr/>
        </p:nvSpPr>
        <p:spPr>
          <a:xfrm>
            <a:off x="777240" y="3520440"/>
            <a:ext cx="10652760" cy="182880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794760"/>
            <a:ext cx="4572000" cy="320040"/>
          </a:xfrm>
          <a:prstGeom prst="rect">
            <a:avLst/>
          </a:prstGeom>
          <a:noFill/>
        </p:spPr>
        <p:txBody>
          <a:bodyPr wrap="square" lIns="45720" rIns="45720" tIns="27432" bIns="27432" anchor="t">
            <a:spAutoFit/>
          </a:bodyPr>
          <a:lstStyle/>
          <a:p>
            <a:r>
              <a:rPr sz="2000" b="1">
                <a:solidFill>
                  <a:srgbClr val="FF6B35"/>
                </a:solidFill>
                <a:latin typeface="Courier New"/>
              </a:rPr>
              <a:t>size &gt; total - offset</a:t>
            </a:r>
          </a:p>
        </p:txBody>
      </p:sp>
      <p:sp>
        <p:nvSpPr>
          <p:cNvPr id="21" name="TextBox 20"/>
          <p:cNvSpPr txBox="1"/>
          <p:nvPr/>
        </p:nvSpPr>
        <p:spPr>
          <a:xfrm>
            <a:off x="6035040" y="3840480"/>
            <a:ext cx="5120640" cy="274320"/>
          </a:xfrm>
          <a:prstGeom prst="rect">
            <a:avLst/>
          </a:prstGeom>
          <a:noFill/>
        </p:spPr>
        <p:txBody>
          <a:bodyPr wrap="square" lIns="45720" rIns="45720" tIns="27432" bIns="27432" anchor="t">
            <a:spAutoFit/>
          </a:bodyPr>
          <a:lstStyle/>
          <a:p>
            <a:r>
              <a:rPr sz="1500" b="1">
                <a:solidFill>
                  <a:srgbClr val="65707C"/>
                </a:solidFill>
                <a:latin typeface="Courier New"/>
              </a:rPr>
              <a:t>never  offset + size &gt; total</a:t>
            </a:r>
          </a:p>
        </p:txBody>
      </p:sp>
      <p:sp>
        <p:nvSpPr>
          <p:cNvPr id="22" name="TextBox 21"/>
          <p:cNvSpPr txBox="1"/>
          <p:nvPr/>
        </p:nvSpPr>
        <p:spPr>
          <a:xfrm>
            <a:off x="1051560" y="4343400"/>
            <a:ext cx="10058400" cy="868680"/>
          </a:xfrm>
          <a:prstGeom prst="rect">
            <a:avLst/>
          </a:prstGeom>
          <a:noFill/>
        </p:spPr>
        <p:txBody>
          <a:bodyPr wrap="square" lIns="45720" rIns="45720" tIns="27432" bIns="27432" anchor="t">
            <a:spAutoFit/>
          </a:bodyPr>
          <a:lstStyle/>
          <a:p>
            <a:r>
              <a:rPr sz="1500" b="0">
                <a:solidFill>
                  <a:srgbClr val="EEF1F3"/>
                </a:solidFill>
                <a:latin typeface="Arial"/>
              </a:rPr>
              <a:t>The second form wraps, so an offset near the top of the range passes the check that exists to stop it. Every range in the v2 decoder is written as the first form. Argument limits agree across imports, traps, direct FFI and the co-process, so no path is the lenient one.</a:t>
            </a:r>
          </a:p>
        </p:txBody>
      </p:sp>
      <p:sp>
        <p:nvSpPr>
          <p:cNvPr id="23" name="TextBox 22"/>
          <p:cNvSpPr txBox="1"/>
          <p:nvPr/>
        </p:nvSpPr>
        <p:spPr>
          <a:xfrm>
            <a:off x="1828800" y="5623560"/>
            <a:ext cx="8503920" cy="365760"/>
          </a:xfrm>
          <a:prstGeom prst="rect">
            <a:avLst/>
          </a:prstGeom>
          <a:noFill/>
        </p:spPr>
        <p:txBody>
          <a:bodyPr wrap="square" lIns="45720" rIns="45720" tIns="27432" bIns="27432" anchor="t">
            <a:spAutoFit/>
          </a:bodyPr>
          <a:lstStyle/>
          <a:p>
            <a:pPr algn="ctr"/>
            <a:r>
              <a:rPr sz="1700" b="1">
                <a:solidFill>
                  <a:srgbClr val="FF6B35"/>
                </a:solidFill>
                <a:latin typeface="Courier New"/>
              </a:rPr>
              <a:t>784 lines of fuzz and malformed-input tests, added in 4.0, across all six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I dispatch through a label table, and keep a portable fallback.</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One copy of 161 handlers, reached two ways. Adopted on measurement, not principle.</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9</a:t>
            </a:r>
          </a:p>
        </p:txBody>
      </p:sp>
      <p:sp>
        <p:nvSpPr>
          <p:cNvPr id="7" name="Rounded Rectangle 6"/>
          <p:cNvSpPr/>
          <p:nvPr/>
        </p:nvSpPr>
        <p:spPr>
          <a:xfrm>
            <a:off x="777240" y="1965960"/>
            <a:ext cx="5212080" cy="274320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240280"/>
            <a:ext cx="4663440" cy="274320"/>
          </a:xfrm>
          <a:prstGeom prst="rect">
            <a:avLst/>
          </a:prstGeom>
          <a:noFill/>
        </p:spPr>
        <p:txBody>
          <a:bodyPr wrap="square" lIns="45720" rIns="45720" tIns="27432" bIns="27432" anchor="t">
            <a:spAutoFit/>
          </a:bodyPr>
          <a:lstStyle/>
          <a:p>
            <a:r>
              <a:rPr sz="1400" b="1">
                <a:solidFill>
                  <a:srgbClr val="76B900"/>
                </a:solidFill>
                <a:latin typeface="Arial"/>
              </a:rPr>
              <a:t>COMPUTED GOTO</a:t>
            </a:r>
          </a:p>
        </p:txBody>
      </p:sp>
      <p:sp>
        <p:nvSpPr>
          <p:cNvPr id="9" name="TextBox 8"/>
          <p:cNvSpPr txBox="1"/>
          <p:nvPr/>
        </p:nvSpPr>
        <p:spPr>
          <a:xfrm>
            <a:off x="1051560" y="2697480"/>
            <a:ext cx="4663440" cy="1645920"/>
          </a:xfrm>
          <a:prstGeom prst="rect">
            <a:avLst/>
          </a:prstGeom>
          <a:noFill/>
        </p:spPr>
        <p:txBody>
          <a:bodyPr wrap="square" lIns="45720" rIns="45720" tIns="27432" bIns="27432" anchor="t">
            <a:spAutoFit/>
          </a:bodyPr>
          <a:lstStyle/>
          <a:p>
            <a:r>
              <a:rPr sz="1600" b="0">
                <a:solidFill>
                  <a:srgbClr val="EEF1F3"/>
                </a:solidFill>
                <a:latin typeface="Arial"/>
              </a:rPr>
              <a:t>one indirect branch per opcode</a:t>
            </a:r>
          </a:p>
          <a:p/>
          <a:p>
            <a:r>
              <a:rPr sz="1600" b="0">
                <a:solidFill>
                  <a:srgbClr val="EEF1F3"/>
                </a:solidFill>
                <a:latin typeface="Arial"/>
              </a:rPr>
              <a:t>-4.2% on my Forth interpreter</a:t>
            </a:r>
          </a:p>
          <a:p>
            <a:r>
              <a:rPr sz="1600" b="0">
                <a:solidFill>
                  <a:srgbClr val="EEF1F3"/>
                </a:solidFill>
                <a:latin typeface="Arial"/>
              </a:rPr>
              <a:t>against a 1.0-1.6% noise band</a:t>
            </a:r>
          </a:p>
        </p:txBody>
      </p:sp>
      <p:sp>
        <p:nvSpPr>
          <p:cNvPr id="10" name="Rounded Rectangle 9"/>
          <p:cNvSpPr/>
          <p:nvPr/>
        </p:nvSpPr>
        <p:spPr>
          <a:xfrm>
            <a:off x="6400800" y="1965960"/>
            <a:ext cx="5029200" cy="2743200"/>
          </a:xfrm>
          <a:prstGeom prst="round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2240280"/>
            <a:ext cx="4480560" cy="274320"/>
          </a:xfrm>
          <a:prstGeom prst="rect">
            <a:avLst/>
          </a:prstGeom>
          <a:noFill/>
        </p:spPr>
        <p:txBody>
          <a:bodyPr wrap="square" lIns="45720" rIns="45720" tIns="27432" bIns="27432" anchor="t">
            <a:spAutoFit/>
          </a:bodyPr>
          <a:lstStyle/>
          <a:p>
            <a:r>
              <a:rPr sz="1400" b="1">
                <a:solidFill>
                  <a:srgbClr val="72B7D6"/>
                </a:solidFill>
                <a:latin typeface="Arial"/>
              </a:rPr>
              <a:t>PORTABLE SWITCH</a:t>
            </a:r>
          </a:p>
        </p:txBody>
      </p:sp>
      <p:sp>
        <p:nvSpPr>
          <p:cNvPr id="12" name="TextBox 11"/>
          <p:cNvSpPr txBox="1"/>
          <p:nvPr/>
        </p:nvSpPr>
        <p:spPr>
          <a:xfrm>
            <a:off x="6675120" y="2697480"/>
            <a:ext cx="4480560" cy="1645920"/>
          </a:xfrm>
          <a:prstGeom prst="rect">
            <a:avLst/>
          </a:prstGeom>
          <a:noFill/>
        </p:spPr>
        <p:txBody>
          <a:bodyPr wrap="square" lIns="45720" rIns="45720" tIns="27432" bIns="27432" anchor="t">
            <a:spAutoFit/>
          </a:bodyPr>
          <a:lstStyle/>
          <a:p>
            <a:r>
              <a:rPr sz="1600" b="0">
                <a:solidFill>
                  <a:srgbClr val="EEF1F3"/>
                </a:solidFill>
                <a:latin typeface="Arial"/>
              </a:rPr>
              <a:t>any compiler without</a:t>
            </a:r>
          </a:p>
          <a:p>
            <a:r>
              <a:rPr sz="1600" b="0">
                <a:solidFill>
                  <a:srgbClr val="EEF1F3"/>
                </a:solidFill>
                <a:latin typeface="Arial"/>
              </a:rPr>
              <a:t>labels as values</a:t>
            </a:r>
          </a:p>
          <a:p/>
          <a:p>
            <a:r>
              <a:rPr sz="1600" b="0">
                <a:solidFill>
                  <a:srgbClr val="EEF1F3"/>
                </a:solidFill>
                <a:latin typeface="Arial"/>
              </a:rPr>
              <a:t>-DNANO_NO_COMPUTED_GOTO</a:t>
            </a:r>
          </a:p>
        </p:txBody>
      </p:sp>
      <p:sp>
        <p:nvSpPr>
          <p:cNvPr id="13" name="TextBox 12"/>
          <p:cNvSpPr txBox="1"/>
          <p:nvPr/>
        </p:nvSpPr>
        <p:spPr>
          <a:xfrm>
            <a:off x="1828800" y="5074920"/>
            <a:ext cx="8503920" cy="365760"/>
          </a:xfrm>
          <a:prstGeom prst="rect">
            <a:avLst/>
          </a:prstGeom>
          <a:noFill/>
        </p:spPr>
        <p:txBody>
          <a:bodyPr wrap="square" lIns="45720" rIns="45720" tIns="27432" bIns="27432" anchor="t">
            <a:spAutoFit/>
          </a:bodyPr>
          <a:lstStyle/>
          <a:p>
            <a:pPr algn="ctr"/>
            <a:r>
              <a:rPr sz="1700" b="1">
                <a:solidFill>
                  <a:srgbClr val="FF6B35"/>
                </a:solidFill>
                <a:latin typeface="Courier New"/>
              </a:rPr>
              <a:t>152 programs, both builds, identical output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EEF1F3"/>
                </a:solidFill>
                <a:latin typeface="Arial"/>
              </a:rPr>
              <a:t>Every function carries a shadow test.</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72B7D6"/>
                </a:solidFill>
                <a:latin typeface="Arial"/>
              </a:rPr>
              <a:t>The test is an executable statement about behavior, not a coverage ornament.</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10</a:t>
            </a:r>
          </a:p>
        </p:txBody>
      </p:sp>
      <p:sp>
        <p:nvSpPr>
          <p:cNvPr id="7" name="Rounded Rectangle 6"/>
          <p:cNvSpPr/>
          <p:nvPr/>
        </p:nvSpPr>
        <p:spPr>
          <a:xfrm>
            <a:off x="731520" y="1828800"/>
            <a:ext cx="5303520" cy="347472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148840"/>
            <a:ext cx="4754880" cy="2651760"/>
          </a:xfrm>
          <a:prstGeom prst="rect">
            <a:avLst/>
          </a:prstGeom>
          <a:noFill/>
        </p:spPr>
        <p:txBody>
          <a:bodyPr wrap="square" lIns="45720" rIns="45720" tIns="27432" bIns="27432" anchor="t">
            <a:spAutoFit/>
          </a:bodyPr>
          <a:lstStyle/>
          <a:p>
            <a:r>
              <a:rPr sz="1600" b="0">
                <a:solidFill>
                  <a:srgbClr val="EEF1F3"/>
                </a:solidFill>
                <a:latin typeface="Courier New"/>
              </a:rPr>
              <a:t>fn gcd(a: int, b: int) -&gt; int {</a:t>
            </a:r>
          </a:p>
          <a:p>
            <a:r>
              <a:rPr sz="1600" b="0">
                <a:solidFill>
                  <a:srgbClr val="EEF1F3"/>
                </a:solidFill>
                <a:latin typeface="Courier New"/>
              </a:rPr>
              <a:t>    ...</a:t>
            </a:r>
          </a:p>
          <a:p>
            <a:r>
              <a:rPr sz="1600" b="0">
                <a:solidFill>
                  <a:srgbClr val="EEF1F3"/>
                </a:solidFill>
                <a:latin typeface="Courier New"/>
              </a:rPr>
              <a:t>}</a:t>
            </a:r>
          </a:p>
          <a:p/>
          <a:p>
            <a:r>
              <a:rPr sz="1600" b="0">
                <a:solidFill>
                  <a:srgbClr val="EEF1F3"/>
                </a:solidFill>
                <a:latin typeface="Courier New"/>
              </a:rPr>
              <a:t>shadow gcd {</a:t>
            </a:r>
          </a:p>
          <a:p>
            <a:r>
              <a:rPr sz="1600" b="0">
                <a:solidFill>
                  <a:srgbClr val="EEF1F3"/>
                </a:solidFill>
                <a:latin typeface="Courier New"/>
              </a:rPr>
              <a:t>    assert (== (gcd 48 18) 6)</a:t>
            </a:r>
          </a:p>
          <a:p>
            <a:r>
              <a:rPr sz="1600" b="0">
                <a:solidFill>
                  <a:srgbClr val="EEF1F3"/>
                </a:solidFill>
                <a:latin typeface="Courier New"/>
              </a:rPr>
              <a:t>}</a:t>
            </a:r>
          </a:p>
        </p:txBody>
      </p:sp>
      <p:sp>
        <p:nvSpPr>
          <p:cNvPr id="9" name="TextBox 8"/>
          <p:cNvSpPr txBox="1"/>
          <p:nvPr/>
        </p:nvSpPr>
        <p:spPr>
          <a:xfrm>
            <a:off x="6537960" y="2148840"/>
            <a:ext cx="4297680" cy="2011680"/>
          </a:xfrm>
          <a:prstGeom prst="rect">
            <a:avLst/>
          </a:prstGeom>
          <a:noFill/>
        </p:spPr>
        <p:txBody>
          <a:bodyPr wrap="square" lIns="45720" rIns="45720" tIns="27432" bIns="27432" anchor="t">
            <a:spAutoFit/>
          </a:bodyPr>
          <a:lstStyle/>
          <a:p>
            <a:r>
              <a:rPr sz="2200" b="1">
                <a:solidFill>
                  <a:srgbClr val="76B900"/>
                </a:solidFill>
                <a:latin typeface="Arial"/>
              </a:rPr>
              <a:t>2,632 NanoISA tests</a:t>
            </a:r>
          </a:p>
          <a:p>
            <a:r>
              <a:rPr sz="2200" b="1">
                <a:solidFill>
                  <a:srgbClr val="76B900"/>
                </a:solidFill>
                <a:latin typeface="Arial"/>
              </a:rPr>
              <a:t>621 NanoVM tests</a:t>
            </a:r>
          </a:p>
          <a:p>
            <a:r>
              <a:rPr sz="2200" b="1">
                <a:solidFill>
                  <a:srgbClr val="76B900"/>
                </a:solidFill>
                <a:latin typeface="Arial"/>
              </a:rPr>
              <a:t>93 verifier tests</a:t>
            </a:r>
          </a:p>
          <a:p>
            <a:r>
              <a:rPr sz="2200" b="1">
                <a:solidFill>
                  <a:srgbClr val="76B900"/>
                </a:solidFill>
                <a:latin typeface="Arial"/>
              </a:rPr>
              <a:t>63 NanoVirt tests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FFI is an explicit unsafe boundary.</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Imports carry signatures. The co-process can keep foreign code outside my VM process.</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11</a:t>
            </a:r>
          </a:p>
        </p:txBody>
      </p:sp>
      <p:sp>
        <p:nvSpPr>
          <p:cNvPr id="7" name="Rounded Rectangle 6"/>
          <p:cNvSpPr/>
          <p:nvPr/>
        </p:nvSpPr>
        <p:spPr>
          <a:xfrm>
            <a:off x="731520" y="2057400"/>
            <a:ext cx="2743200" cy="2377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423160"/>
            <a:ext cx="2286000" cy="274320"/>
          </a:xfrm>
          <a:prstGeom prst="rect">
            <a:avLst/>
          </a:prstGeom>
          <a:noFill/>
        </p:spPr>
        <p:txBody>
          <a:bodyPr wrap="square" lIns="45720" rIns="45720" tIns="27432" bIns="27432" anchor="t">
            <a:spAutoFit/>
          </a:bodyPr>
          <a:lstStyle/>
          <a:p>
            <a:r>
              <a:rPr sz="1800" b="1">
                <a:solidFill>
                  <a:srgbClr val="EEF1F3"/>
                </a:solidFill>
                <a:latin typeface="Arial"/>
              </a:rPr>
              <a:t>NanoLang</a:t>
            </a:r>
          </a:p>
        </p:txBody>
      </p:sp>
      <p:sp>
        <p:nvSpPr>
          <p:cNvPr id="9" name="TextBox 8"/>
          <p:cNvSpPr txBox="1"/>
          <p:nvPr/>
        </p:nvSpPr>
        <p:spPr>
          <a:xfrm>
            <a:off x="960120" y="3063240"/>
            <a:ext cx="2286000" cy="274320"/>
          </a:xfrm>
          <a:prstGeom prst="rect">
            <a:avLst/>
          </a:prstGeom>
          <a:noFill/>
        </p:spPr>
        <p:txBody>
          <a:bodyPr wrap="square" lIns="45720" rIns="45720" tIns="27432" bIns="27432" anchor="t">
            <a:spAutoFit/>
          </a:bodyPr>
          <a:lstStyle/>
          <a:p>
            <a:r>
              <a:rPr sz="1500" b="1">
                <a:solidFill>
                  <a:srgbClr val="72B7D6"/>
                </a:solidFill>
                <a:latin typeface="Arial"/>
              </a:rPr>
              <a:t>typed call</a:t>
            </a:r>
          </a:p>
        </p:txBody>
      </p:sp>
      <p:sp>
        <p:nvSpPr>
          <p:cNvPr id="10" name="Rounded Rectangle 9"/>
          <p:cNvSpPr/>
          <p:nvPr/>
        </p:nvSpPr>
        <p:spPr>
          <a:xfrm>
            <a:off x="4709160" y="2057400"/>
            <a:ext cx="2743200" cy="2377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423160"/>
            <a:ext cx="2286000" cy="274320"/>
          </a:xfrm>
          <a:prstGeom prst="rect">
            <a:avLst/>
          </a:prstGeom>
          <a:noFill/>
        </p:spPr>
        <p:txBody>
          <a:bodyPr wrap="square" lIns="45720" rIns="45720" tIns="27432" bIns="27432" anchor="t">
            <a:spAutoFit/>
          </a:bodyPr>
          <a:lstStyle/>
          <a:p>
            <a:r>
              <a:rPr sz="1800" b="1">
                <a:solidFill>
                  <a:srgbClr val="EEF1F3"/>
                </a:solidFill>
                <a:latin typeface="Arial"/>
              </a:rPr>
              <a:t>NanoVM</a:t>
            </a:r>
          </a:p>
        </p:txBody>
      </p:sp>
      <p:sp>
        <p:nvSpPr>
          <p:cNvPr id="12" name="TextBox 11"/>
          <p:cNvSpPr txBox="1"/>
          <p:nvPr/>
        </p:nvSpPr>
        <p:spPr>
          <a:xfrm>
            <a:off x="4937760" y="3063240"/>
            <a:ext cx="2286000" cy="274320"/>
          </a:xfrm>
          <a:prstGeom prst="rect">
            <a:avLst/>
          </a:prstGeom>
          <a:noFill/>
        </p:spPr>
        <p:txBody>
          <a:bodyPr wrap="square" lIns="45720" rIns="45720" tIns="27432" bIns="27432" anchor="t">
            <a:spAutoFit/>
          </a:bodyPr>
          <a:lstStyle/>
          <a:p>
            <a:r>
              <a:rPr sz="1500" b="1">
                <a:solidFill>
                  <a:srgbClr val="76B900"/>
                </a:solidFill>
                <a:latin typeface="Arial"/>
              </a:rPr>
              <a:t>typed trap</a:t>
            </a:r>
          </a:p>
        </p:txBody>
      </p:sp>
      <p:sp>
        <p:nvSpPr>
          <p:cNvPr id="13" name="Rounded Rectangle 12"/>
          <p:cNvSpPr/>
          <p:nvPr/>
        </p:nvSpPr>
        <p:spPr>
          <a:xfrm>
            <a:off x="8686800" y="2057400"/>
            <a:ext cx="2743200" cy="2377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5400" y="2423160"/>
            <a:ext cx="2286000" cy="274320"/>
          </a:xfrm>
          <a:prstGeom prst="rect">
            <a:avLst/>
          </a:prstGeom>
          <a:noFill/>
        </p:spPr>
        <p:txBody>
          <a:bodyPr wrap="square" lIns="45720" rIns="45720" tIns="27432" bIns="27432" anchor="t">
            <a:spAutoFit/>
          </a:bodyPr>
          <a:lstStyle/>
          <a:p>
            <a:r>
              <a:rPr sz="1800" b="1">
                <a:solidFill>
                  <a:srgbClr val="EEF1F3"/>
                </a:solidFill>
                <a:latin typeface="Arial"/>
              </a:rPr>
              <a:t>nano_cop</a:t>
            </a:r>
          </a:p>
        </p:txBody>
      </p:sp>
      <p:sp>
        <p:nvSpPr>
          <p:cNvPr id="15" name="TextBox 14"/>
          <p:cNvSpPr txBox="1"/>
          <p:nvPr/>
        </p:nvSpPr>
        <p:spPr>
          <a:xfrm>
            <a:off x="8915400" y="3063240"/>
            <a:ext cx="2286000" cy="548640"/>
          </a:xfrm>
          <a:prstGeom prst="rect">
            <a:avLst/>
          </a:prstGeom>
          <a:noFill/>
        </p:spPr>
        <p:txBody>
          <a:bodyPr wrap="square" lIns="45720" rIns="45720" tIns="27432" bIns="27432" anchor="t">
            <a:spAutoFit/>
          </a:bodyPr>
          <a:lstStyle/>
          <a:p>
            <a:r>
              <a:rPr sz="1500" b="1">
                <a:solidFill>
                  <a:srgbClr val="FF6B35"/>
                </a:solidFill>
                <a:latin typeface="Arial"/>
              </a:rPr>
              <a:t>foreign process</a:t>
            </a:r>
          </a:p>
        </p:txBody>
      </p:sp>
      <p:sp>
        <p:nvSpPr>
          <p:cNvPr id="16" name="TextBox 15"/>
          <p:cNvSpPr txBox="1"/>
          <p:nvPr/>
        </p:nvSpPr>
        <p:spPr>
          <a:xfrm>
            <a:off x="914400" y="5120640"/>
            <a:ext cx="10332720" cy="365760"/>
          </a:xfrm>
          <a:prstGeom prst="rect">
            <a:avLst/>
          </a:prstGeom>
          <a:noFill/>
        </p:spPr>
        <p:txBody>
          <a:bodyPr wrap="square" lIns="45720" rIns="45720" tIns="27432" bIns="27432" anchor="t">
            <a:spAutoFit/>
          </a:bodyPr>
          <a:lstStyle/>
          <a:p>
            <a:pPr algn="ctr"/>
            <a:r>
              <a:rPr sz="1500" b="0">
                <a:solidFill>
                  <a:srgbClr val="72B7D6"/>
                </a:solidFill>
                <a:latin typeface="Arial"/>
              </a:rPr>
              <a:t>isolation costs about 48x per crossing — which is what batching exists to amortize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EEF1F3"/>
                </a:solidFill>
                <a:latin typeface="Arial"/>
              </a:rPr>
              <a:t>I collect cycles, so my backends agree about leaks.</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72B7D6"/>
                </a:solidFill>
                <a:latin typeface="Arial"/>
              </a:rPr>
              <a:t>Reference counting cannot reclaim a cycle, and a cycle is constructible from ordinary NanoLang.</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12</a:t>
            </a:r>
          </a:p>
        </p:txBody>
      </p:sp>
      <p:sp>
        <p:nvSpPr>
          <p:cNvPr id="7" name="Rounded Rectangle 6"/>
          <p:cNvSpPr/>
          <p:nvPr/>
        </p:nvSpPr>
        <p:spPr>
          <a:xfrm>
            <a:off x="731520" y="1920240"/>
            <a:ext cx="5486400" cy="320040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286000"/>
            <a:ext cx="4937760" cy="2011680"/>
          </a:xfrm>
          <a:prstGeom prst="rect">
            <a:avLst/>
          </a:prstGeom>
          <a:noFill/>
        </p:spPr>
        <p:txBody>
          <a:bodyPr wrap="square" lIns="45720" rIns="45720" tIns="27432" bIns="27432" anchor="t">
            <a:spAutoFit/>
          </a:bodyPr>
          <a:lstStyle/>
          <a:p>
            <a:r>
              <a:rPr sz="1600" b="0">
                <a:solidFill>
                  <a:srgbClr val="EEF1F3"/>
                </a:solidFill>
                <a:latin typeface="Courier New"/>
              </a:rPr>
              <a:t>struct Node {</a:t>
            </a:r>
          </a:p>
          <a:p>
            <a:r>
              <a:rPr sz="1600" b="0">
                <a:solidFill>
                  <a:srgbClr val="EEF1F3"/>
                </a:solidFill>
                <a:latin typeface="Courier New"/>
              </a:rPr>
              <a:t>  children: array&lt;Node&gt;</a:t>
            </a:r>
          </a:p>
          <a:p>
            <a:r>
              <a:rPr sz="1600" b="0">
                <a:solidFill>
                  <a:srgbClr val="EEF1F3"/>
                </a:solidFill>
                <a:latin typeface="Courier New"/>
              </a:rPr>
              <a:t>}</a:t>
            </a:r>
          </a:p>
          <a:p/>
          <a:p>
            <a:r>
              <a:rPr sz="1600" b="0">
                <a:solidFill>
                  <a:srgbClr val="EEF1F3"/>
                </a:solidFill>
                <a:latin typeface="Courier New"/>
              </a:rPr>
              <a:t>set kids (array_push kids n)</a:t>
            </a:r>
          </a:p>
        </p:txBody>
      </p:sp>
      <p:sp>
        <p:nvSpPr>
          <p:cNvPr id="9" name="Rounded Rectangle 8"/>
          <p:cNvSpPr/>
          <p:nvPr/>
        </p:nvSpPr>
        <p:spPr>
          <a:xfrm>
            <a:off x="6537960" y="1920240"/>
            <a:ext cx="4937760" cy="3200400"/>
          </a:xfrm>
          <a:prstGeom prst="round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0" y="2286000"/>
            <a:ext cx="4297680" cy="2560320"/>
          </a:xfrm>
          <a:prstGeom prst="rect">
            <a:avLst/>
          </a:prstGeom>
          <a:noFill/>
        </p:spPr>
        <p:txBody>
          <a:bodyPr wrap="square" lIns="45720" rIns="45720" tIns="27432" bIns="27432" anchor="t">
            <a:spAutoFit/>
          </a:bodyPr>
          <a:lstStyle/>
          <a:p>
            <a:r>
              <a:rPr sz="1600" b="1">
                <a:solidFill>
                  <a:srgbClr val="EEF1F3"/>
                </a:solidFill>
                <a:latin typeface="Arial"/>
              </a:rPr>
              <a:t>array_push mutates in place,</a:t>
            </a:r>
          </a:p>
          <a:p>
            <a:r>
              <a:rPr sz="1600" b="1">
                <a:solidFill>
                  <a:srgbClr val="EEF1F3"/>
                </a:solidFill>
                <a:latin typeface="Arial"/>
              </a:rPr>
              <a:t>so the field and the local are</a:t>
            </a:r>
          </a:p>
          <a:p>
            <a:r>
              <a:rPr sz="1600" b="1">
                <a:solidFill>
                  <a:srgbClr val="EEF1F3"/>
                </a:solidFill>
                <a:latin typeface="Arial"/>
              </a:rPr>
              <a:t>one object -- and it now</a:t>
            </a:r>
          </a:p>
          <a:p>
            <a:r>
              <a:rPr sz="1600" b="1">
                <a:solidFill>
                  <a:srgbClr val="EEF1F3"/>
                </a:solidFill>
                <a:latin typeface="Arial"/>
              </a:rPr>
              <a:t>contains its own owner.</a:t>
            </a:r>
          </a:p>
          <a:p/>
          <a:p>
            <a:r>
              <a:rPr sz="1600" b="1">
                <a:solidFill>
                  <a:srgbClr val="EEF1F3"/>
                </a:solidFill>
                <a:latin typeface="Arial"/>
              </a:rPr>
              <a:t>Forbidding that shape would</a:t>
            </a:r>
          </a:p>
          <a:p>
            <a:r>
              <a:rPr sz="1600" b="1">
                <a:solidFill>
                  <a:srgbClr val="EEF1F3"/>
                </a:solidFill>
                <a:latin typeface="Arial"/>
              </a:rPr>
              <a:t>forbid trees and graphs.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What I measured, and what I declined because of it.</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A number without its spread is not evidence. Every claim below carries a noise band.</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13</a:t>
            </a:r>
          </a:p>
        </p:txBody>
      </p:sp>
      <p:sp>
        <p:nvSpPr>
          <p:cNvPr id="7" name="Rounded Rectangle 6"/>
          <p:cNvSpPr/>
          <p:nvPr/>
        </p:nvSpPr>
        <p:spPr>
          <a:xfrm>
            <a:off x="822960" y="1828800"/>
            <a:ext cx="10515600" cy="566928"/>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65960"/>
            <a:ext cx="3108960" cy="274320"/>
          </a:xfrm>
          <a:prstGeom prst="rect">
            <a:avLst/>
          </a:prstGeom>
          <a:noFill/>
        </p:spPr>
        <p:txBody>
          <a:bodyPr wrap="square" lIns="45720" rIns="45720" tIns="27432" bIns="27432" anchor="t">
            <a:spAutoFit/>
          </a:bodyPr>
          <a:lstStyle/>
          <a:p>
            <a:r>
              <a:rPr sz="1500" b="1">
                <a:solidFill>
                  <a:srgbClr val="EEF1F3"/>
                </a:solidFill>
                <a:latin typeface="Arial"/>
              </a:rPr>
              <a:t>cold startup</a:t>
            </a:r>
          </a:p>
        </p:txBody>
      </p:sp>
      <p:sp>
        <p:nvSpPr>
          <p:cNvPr id="9" name="TextBox 8"/>
          <p:cNvSpPr txBox="1"/>
          <p:nvPr/>
        </p:nvSpPr>
        <p:spPr>
          <a:xfrm>
            <a:off x="4389120" y="1965960"/>
            <a:ext cx="2194560" cy="274320"/>
          </a:xfrm>
          <a:prstGeom prst="rect">
            <a:avLst/>
          </a:prstGeom>
          <a:noFill/>
        </p:spPr>
        <p:txBody>
          <a:bodyPr wrap="square" lIns="45720" rIns="45720" tIns="27432" bIns="27432" anchor="t">
            <a:spAutoFit/>
          </a:bodyPr>
          <a:lstStyle/>
          <a:p>
            <a:r>
              <a:rPr sz="1500" b="1">
                <a:solidFill>
                  <a:srgbClr val="FF6B35"/>
                </a:solidFill>
                <a:latin typeface="Courier New"/>
              </a:rPr>
              <a:t>17.4 ms</a:t>
            </a:r>
          </a:p>
        </p:txBody>
      </p:sp>
      <p:sp>
        <p:nvSpPr>
          <p:cNvPr id="10" name="TextBox 9"/>
          <p:cNvSpPr txBox="1"/>
          <p:nvPr/>
        </p:nvSpPr>
        <p:spPr>
          <a:xfrm>
            <a:off x="6766560" y="1965960"/>
            <a:ext cx="4389120" cy="274320"/>
          </a:xfrm>
          <a:prstGeom prst="rect">
            <a:avLst/>
          </a:prstGeom>
          <a:noFill/>
        </p:spPr>
        <p:txBody>
          <a:bodyPr wrap="square" lIns="45720" rIns="45720" tIns="27432" bIns="27432" anchor="t">
            <a:spAutoFit/>
          </a:bodyPr>
          <a:lstStyle/>
          <a:p>
            <a:r>
              <a:rPr sz="1400" b="0">
                <a:solidFill>
                  <a:srgbClr val="EEF1F3"/>
                </a:solidFill>
                <a:latin typeface="Arial"/>
              </a:rPr>
              <a:t>60-1800x a single execution</a:t>
            </a:r>
          </a:p>
        </p:txBody>
      </p:sp>
      <p:sp>
        <p:nvSpPr>
          <p:cNvPr id="11" name="Rounded Rectangle 10"/>
          <p:cNvSpPr/>
          <p:nvPr/>
        </p:nvSpPr>
        <p:spPr>
          <a:xfrm>
            <a:off x="822960" y="2542032"/>
            <a:ext cx="10515600" cy="566928"/>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679192"/>
            <a:ext cx="3108960" cy="274320"/>
          </a:xfrm>
          <a:prstGeom prst="rect">
            <a:avLst/>
          </a:prstGeom>
          <a:noFill/>
        </p:spPr>
        <p:txBody>
          <a:bodyPr wrap="square" lIns="45720" rIns="45720" tIns="27432" bIns="27432" anchor="t">
            <a:spAutoFit/>
          </a:bodyPr>
          <a:lstStyle/>
          <a:p>
            <a:r>
              <a:rPr sz="1500" b="1">
                <a:solidFill>
                  <a:srgbClr val="EEF1F3"/>
                </a:solidFill>
                <a:latin typeface="Arial"/>
              </a:rPr>
              <a:t>Forth interpreter</a:t>
            </a:r>
          </a:p>
        </p:txBody>
      </p:sp>
      <p:sp>
        <p:nvSpPr>
          <p:cNvPr id="13" name="TextBox 12"/>
          <p:cNvSpPr txBox="1"/>
          <p:nvPr/>
        </p:nvSpPr>
        <p:spPr>
          <a:xfrm>
            <a:off x="4389120" y="2679192"/>
            <a:ext cx="2194560" cy="274320"/>
          </a:xfrm>
          <a:prstGeom prst="rect">
            <a:avLst/>
          </a:prstGeom>
          <a:noFill/>
        </p:spPr>
        <p:txBody>
          <a:bodyPr wrap="square" lIns="45720" rIns="45720" tIns="27432" bIns="27432" anchor="t">
            <a:spAutoFit/>
          </a:bodyPr>
          <a:lstStyle/>
          <a:p>
            <a:r>
              <a:rPr sz="1500" b="1">
                <a:solidFill>
                  <a:srgbClr val="76B900"/>
                </a:solidFill>
                <a:latin typeface="Courier New"/>
              </a:rPr>
              <a:t>282.7 us</a:t>
            </a:r>
          </a:p>
        </p:txBody>
      </p:sp>
      <p:sp>
        <p:nvSpPr>
          <p:cNvPr id="14" name="TextBox 13"/>
          <p:cNvSpPr txBox="1"/>
          <p:nvPr/>
        </p:nvSpPr>
        <p:spPr>
          <a:xfrm>
            <a:off x="6766560" y="2679192"/>
            <a:ext cx="4389120" cy="274320"/>
          </a:xfrm>
          <a:prstGeom prst="rect">
            <a:avLst/>
          </a:prstGeom>
          <a:noFill/>
        </p:spPr>
        <p:txBody>
          <a:bodyPr wrap="square" lIns="45720" rIns="45720" tIns="27432" bIns="27432" anchor="t">
            <a:spAutoFit/>
          </a:bodyPr>
          <a:lstStyle/>
          <a:p>
            <a:r>
              <a:rPr sz="1400" b="0">
                <a:solidFill>
                  <a:srgbClr val="EEF1F3"/>
                </a:solidFill>
                <a:latin typeface="Arial"/>
              </a:rPr>
              <a:t>IQR 1.6%</a:t>
            </a:r>
          </a:p>
        </p:txBody>
      </p:sp>
      <p:sp>
        <p:nvSpPr>
          <p:cNvPr id="15" name="Rounded Rectangle 14"/>
          <p:cNvSpPr/>
          <p:nvPr/>
        </p:nvSpPr>
        <p:spPr>
          <a:xfrm>
            <a:off x="822960" y="3255264"/>
            <a:ext cx="10515600" cy="566928"/>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392424"/>
            <a:ext cx="3108960" cy="274320"/>
          </a:xfrm>
          <a:prstGeom prst="rect">
            <a:avLst/>
          </a:prstGeom>
          <a:noFill/>
        </p:spPr>
        <p:txBody>
          <a:bodyPr wrap="square" lIns="45720" rIns="45720" tIns="27432" bIns="27432" anchor="t">
            <a:spAutoFit/>
          </a:bodyPr>
          <a:lstStyle/>
          <a:p>
            <a:r>
              <a:rPr sz="1500" b="1">
                <a:solidFill>
                  <a:srgbClr val="EEF1F3"/>
                </a:solidFill>
                <a:latin typeface="Arial"/>
              </a:rPr>
              <a:t>computed goto</a:t>
            </a:r>
          </a:p>
        </p:txBody>
      </p:sp>
      <p:sp>
        <p:nvSpPr>
          <p:cNvPr id="17" name="TextBox 16"/>
          <p:cNvSpPr txBox="1"/>
          <p:nvPr/>
        </p:nvSpPr>
        <p:spPr>
          <a:xfrm>
            <a:off x="4389120" y="3392424"/>
            <a:ext cx="2194560" cy="274320"/>
          </a:xfrm>
          <a:prstGeom prst="rect">
            <a:avLst/>
          </a:prstGeom>
          <a:noFill/>
        </p:spPr>
        <p:txBody>
          <a:bodyPr wrap="square" lIns="45720" rIns="45720" tIns="27432" bIns="27432" anchor="t">
            <a:spAutoFit/>
          </a:bodyPr>
          <a:lstStyle/>
          <a:p>
            <a:r>
              <a:rPr sz="1500" b="1">
                <a:solidFill>
                  <a:srgbClr val="76B900"/>
                </a:solidFill>
                <a:latin typeface="Courier New"/>
              </a:rPr>
              <a:t>-4.2%</a:t>
            </a:r>
          </a:p>
        </p:txBody>
      </p:sp>
      <p:sp>
        <p:nvSpPr>
          <p:cNvPr id="18" name="TextBox 17"/>
          <p:cNvSpPr txBox="1"/>
          <p:nvPr/>
        </p:nvSpPr>
        <p:spPr>
          <a:xfrm>
            <a:off x="6766560" y="3392424"/>
            <a:ext cx="4389120" cy="274320"/>
          </a:xfrm>
          <a:prstGeom prst="rect">
            <a:avLst/>
          </a:prstGeom>
          <a:noFill/>
        </p:spPr>
        <p:txBody>
          <a:bodyPr wrap="square" lIns="45720" rIns="45720" tIns="27432" bIns="27432" anchor="t">
            <a:spAutoFit/>
          </a:bodyPr>
          <a:lstStyle/>
          <a:p>
            <a:r>
              <a:rPr sz="1400" b="0">
                <a:solidFill>
                  <a:srgbClr val="EEF1F3"/>
                </a:solidFill>
                <a:latin typeface="Arial"/>
              </a:rPr>
              <a:t>accepted: beats the band</a:t>
            </a:r>
          </a:p>
        </p:txBody>
      </p:sp>
      <p:sp>
        <p:nvSpPr>
          <p:cNvPr id="19" name="Rounded Rectangle 18"/>
          <p:cNvSpPr/>
          <p:nvPr/>
        </p:nvSpPr>
        <p:spPr>
          <a:xfrm>
            <a:off x="822960" y="3968496"/>
            <a:ext cx="10515600" cy="566928"/>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105656"/>
            <a:ext cx="3108960" cy="274320"/>
          </a:xfrm>
          <a:prstGeom prst="rect">
            <a:avLst/>
          </a:prstGeom>
          <a:noFill/>
        </p:spPr>
        <p:txBody>
          <a:bodyPr wrap="square" lIns="45720" rIns="45720" tIns="27432" bIns="27432" anchor="t">
            <a:spAutoFit/>
          </a:bodyPr>
          <a:lstStyle/>
          <a:p>
            <a:r>
              <a:rPr sz="1500" b="1">
                <a:solidFill>
                  <a:srgbClr val="EEF1F3"/>
                </a:solidFill>
                <a:latin typeface="Arial"/>
              </a:rPr>
              <a:t>split tag stacks</a:t>
            </a:r>
          </a:p>
        </p:txBody>
      </p:sp>
      <p:sp>
        <p:nvSpPr>
          <p:cNvPr id="21" name="TextBox 20"/>
          <p:cNvSpPr txBox="1"/>
          <p:nvPr/>
        </p:nvSpPr>
        <p:spPr>
          <a:xfrm>
            <a:off x="4389120" y="4105656"/>
            <a:ext cx="2194560" cy="274320"/>
          </a:xfrm>
          <a:prstGeom prst="rect">
            <a:avLst/>
          </a:prstGeom>
          <a:noFill/>
        </p:spPr>
        <p:txBody>
          <a:bodyPr wrap="square" lIns="45720" rIns="45720" tIns="27432" bIns="27432" anchor="t">
            <a:spAutoFit/>
          </a:bodyPr>
          <a:lstStyle/>
          <a:p>
            <a:r>
              <a:rPr sz="1500" b="1">
                <a:solidFill>
                  <a:srgbClr val="65707C"/>
                </a:solidFill>
                <a:latin typeface="Courier New"/>
              </a:rPr>
              <a:t>unmeasurable</a:t>
            </a:r>
          </a:p>
        </p:txBody>
      </p:sp>
      <p:sp>
        <p:nvSpPr>
          <p:cNvPr id="22" name="TextBox 21"/>
          <p:cNvSpPr txBox="1"/>
          <p:nvPr/>
        </p:nvSpPr>
        <p:spPr>
          <a:xfrm>
            <a:off x="6766560" y="4105656"/>
            <a:ext cx="4389120" cy="274320"/>
          </a:xfrm>
          <a:prstGeom prst="rect">
            <a:avLst/>
          </a:prstGeom>
          <a:noFill/>
        </p:spPr>
        <p:txBody>
          <a:bodyPr wrap="square" lIns="45720" rIns="45720" tIns="27432" bIns="27432" anchor="t">
            <a:spAutoFit/>
          </a:bodyPr>
          <a:lstStyle/>
          <a:p>
            <a:r>
              <a:rPr sz="1400" b="0">
                <a:solidFill>
                  <a:srgbClr val="EEF1F3"/>
                </a:solidFill>
                <a:latin typeface="Arial"/>
              </a:rPr>
              <a:t>declined: band is 5-10%</a:t>
            </a:r>
          </a:p>
        </p:txBody>
      </p:sp>
      <p:sp>
        <p:nvSpPr>
          <p:cNvPr id="23" name="Rounded Rectangle 22"/>
          <p:cNvSpPr/>
          <p:nvPr/>
        </p:nvSpPr>
        <p:spPr>
          <a:xfrm>
            <a:off x="822960" y="4681728"/>
            <a:ext cx="10515600" cy="566928"/>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818888"/>
            <a:ext cx="3108960" cy="274320"/>
          </a:xfrm>
          <a:prstGeom prst="rect">
            <a:avLst/>
          </a:prstGeom>
          <a:noFill/>
        </p:spPr>
        <p:txBody>
          <a:bodyPr wrap="square" lIns="45720" rIns="45720" tIns="27432" bIns="27432" anchor="t">
            <a:spAutoFit/>
          </a:bodyPr>
          <a:lstStyle/>
          <a:p>
            <a:r>
              <a:rPr sz="1500" b="1">
                <a:solidFill>
                  <a:srgbClr val="EEF1F3"/>
                </a:solidFill>
                <a:latin typeface="Arial"/>
              </a:rPr>
              <a:t>trap stack ranges</a:t>
            </a:r>
          </a:p>
        </p:txBody>
      </p:sp>
      <p:sp>
        <p:nvSpPr>
          <p:cNvPr id="25" name="TextBox 24"/>
          <p:cNvSpPr txBox="1"/>
          <p:nvPr/>
        </p:nvSpPr>
        <p:spPr>
          <a:xfrm>
            <a:off x="4389120" y="4818888"/>
            <a:ext cx="2194560" cy="274320"/>
          </a:xfrm>
          <a:prstGeom prst="rect">
            <a:avLst/>
          </a:prstGeom>
          <a:noFill/>
        </p:spPr>
        <p:txBody>
          <a:bodyPr wrap="square" lIns="45720" rIns="45720" tIns="27432" bIns="27432" anchor="t">
            <a:spAutoFit/>
          </a:bodyPr>
          <a:lstStyle/>
          <a:p>
            <a:r>
              <a:rPr sz="1500" b="1">
                <a:solidFill>
                  <a:srgbClr val="65707C"/>
                </a:solidFill>
                <a:latin typeface="Courier New"/>
              </a:rPr>
              <a:t>no effect</a:t>
            </a:r>
          </a:p>
        </p:txBody>
      </p:sp>
      <p:sp>
        <p:nvSpPr>
          <p:cNvPr id="26" name="TextBox 25"/>
          <p:cNvSpPr txBox="1"/>
          <p:nvPr/>
        </p:nvSpPr>
        <p:spPr>
          <a:xfrm>
            <a:off x="6766560" y="4818888"/>
            <a:ext cx="4389120" cy="274320"/>
          </a:xfrm>
          <a:prstGeom prst="rect">
            <a:avLst/>
          </a:prstGeom>
          <a:noFill/>
        </p:spPr>
        <p:txBody>
          <a:bodyPr wrap="square" lIns="45720" rIns="45720" tIns="27432" bIns="27432" anchor="t">
            <a:spAutoFit/>
          </a:bodyPr>
          <a:lstStyle/>
          <a:p>
            <a:r>
              <a:rPr sz="1400" b="0">
                <a:solidFill>
                  <a:srgbClr val="EEF1F3"/>
                </a:solidFill>
                <a:latin typeface="Arial"/>
              </a:rPr>
              <a:t>declined: crossing is 48x the copy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EEF1F3"/>
                </a:solidFill>
                <a:latin typeface="Arial"/>
              </a:rPr>
              <a:t>4.4 shipped. Here is what I have not done.</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72B7D6"/>
                </a:solidFill>
                <a:latin typeface="Arial"/>
              </a:rPr>
              <a:t>One tag from v4.0.0. Product phases 4.1–4.4, not four Git tags.</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14</a:t>
            </a:r>
          </a:p>
        </p:txBody>
      </p:sp>
      <p:sp>
        <p:nvSpPr>
          <p:cNvPr id="7" name="Rounded Rectangle 6"/>
          <p:cNvSpPr/>
          <p:nvPr/>
        </p:nvSpPr>
        <p:spPr>
          <a:xfrm>
            <a:off x="731520" y="1828800"/>
            <a:ext cx="5166360" cy="356616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148840"/>
            <a:ext cx="4480560" cy="274320"/>
          </a:xfrm>
          <a:prstGeom prst="rect">
            <a:avLst/>
          </a:prstGeom>
          <a:noFill/>
        </p:spPr>
        <p:txBody>
          <a:bodyPr wrap="square" lIns="45720" rIns="45720" tIns="27432" bIns="27432" anchor="t">
            <a:spAutoFit/>
          </a:bodyPr>
          <a:lstStyle/>
          <a:p>
            <a:r>
              <a:rPr sz="1500" b="1">
                <a:solidFill>
                  <a:srgbClr val="76B900"/>
                </a:solidFill>
                <a:latin typeface="Arial"/>
              </a:rPr>
              <a:t>4.4 SHIPPED</a:t>
            </a:r>
          </a:p>
        </p:txBody>
      </p:sp>
      <p:sp>
        <p:nvSpPr>
          <p:cNvPr id="9" name="TextBox 8"/>
          <p:cNvSpPr txBox="1"/>
          <p:nvPr/>
        </p:nvSpPr>
        <p:spPr>
          <a:xfrm>
            <a:off x="1005840" y="2651760"/>
            <a:ext cx="4297680" cy="2377440"/>
          </a:xfrm>
          <a:prstGeom prst="rect">
            <a:avLst/>
          </a:prstGeom>
          <a:noFill/>
        </p:spPr>
        <p:txBody>
          <a:bodyPr wrap="square" lIns="45720" rIns="45720" tIns="27432" bIns="27432" anchor="t">
            <a:spAutoFit/>
          </a:bodyPr>
          <a:lstStyle/>
          <a:p>
            <a:r>
              <a:rPr sz="1800" b="1">
                <a:solidFill>
                  <a:srgbClr val="EEF1F3"/>
                </a:solidFill>
                <a:latin typeface="Arial"/>
              </a:rPr>
              <a:t>verified NanoISA v2 (4.0)</a:t>
            </a:r>
          </a:p>
          <a:p>
            <a:r>
              <a:rPr sz="1800" b="1">
                <a:solidFill>
                  <a:srgbClr val="EEF1F3"/>
                </a:solidFill>
                <a:latin typeface="Arial"/>
              </a:rPr>
              <a:t>Forth Core evidence</a:t>
            </a:r>
          </a:p>
          <a:p>
            <a:r>
              <a:rPr sz="1800" b="1">
                <a:solidFill>
                  <a:srgbClr val="EEF1F3"/>
                </a:solidFill>
                <a:latin typeface="Arial"/>
              </a:rPr>
              <a:t>NSI v0 + POSIX fabric</a:t>
            </a:r>
          </a:p>
          <a:p>
            <a:r>
              <a:rPr sz="1800" b="1">
                <a:solidFill>
                  <a:srgbClr val="EEF1F3"/>
                </a:solidFill>
                <a:latin typeface="Arial"/>
              </a:rPr>
              <a:t>unforgeable capabilities</a:t>
            </a:r>
          </a:p>
          <a:p>
            <a:r>
              <a:rPr sz="1800" b="1">
                <a:solidFill>
                  <a:srgbClr val="EEF1F3"/>
                </a:solidFill>
                <a:latin typeface="Arial"/>
              </a:rPr>
              <a:t>isolated editor walker</a:t>
            </a:r>
          </a:p>
          <a:p>
            <a:r>
              <a:rPr sz="1800" b="1">
                <a:solidFill>
                  <a:srgbClr val="EEF1F3"/>
                </a:solidFill>
                <a:latin typeface="Arial"/>
              </a:rPr>
              <a:t>six-language catalogs</a:t>
            </a:r>
          </a:p>
        </p:txBody>
      </p:sp>
      <p:sp>
        <p:nvSpPr>
          <p:cNvPr id="10" name="Rounded Rectangle 9"/>
          <p:cNvSpPr/>
          <p:nvPr/>
        </p:nvSpPr>
        <p:spPr>
          <a:xfrm>
            <a:off x="6309360" y="1828800"/>
            <a:ext cx="5166360" cy="3566160"/>
          </a:xfrm>
          <a:prstGeom prst="round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2148840"/>
            <a:ext cx="4480560" cy="274320"/>
          </a:xfrm>
          <a:prstGeom prst="rect">
            <a:avLst/>
          </a:prstGeom>
          <a:noFill/>
        </p:spPr>
        <p:txBody>
          <a:bodyPr wrap="square" lIns="45720" rIns="45720" tIns="27432" bIns="27432" anchor="t">
            <a:spAutoFit/>
          </a:bodyPr>
          <a:lstStyle/>
          <a:p>
            <a:r>
              <a:rPr sz="1500" b="1">
                <a:solidFill>
                  <a:srgbClr val="FF6B35"/>
                </a:solidFill>
                <a:latin typeface="Arial"/>
              </a:rPr>
              <a:t>NOT DONE</a:t>
            </a:r>
          </a:p>
        </p:txBody>
      </p:sp>
      <p:sp>
        <p:nvSpPr>
          <p:cNvPr id="12" name="TextBox 11"/>
          <p:cNvSpPr txBox="1"/>
          <p:nvPr/>
        </p:nvSpPr>
        <p:spPr>
          <a:xfrm>
            <a:off x="6583680" y="2651760"/>
            <a:ext cx="4297680" cy="2377440"/>
          </a:xfrm>
          <a:prstGeom prst="rect">
            <a:avLst/>
          </a:prstGeom>
          <a:noFill/>
        </p:spPr>
        <p:txBody>
          <a:bodyPr wrap="square" lIns="45720" rIns="45720" tIns="27432" bIns="27432" anchor="t">
            <a:spAutoFit/>
          </a:bodyPr>
          <a:lstStyle/>
          <a:p>
            <a:r>
              <a:rPr sz="1800" b="1">
                <a:solidFill>
                  <a:srgbClr val="EEF1F3"/>
                </a:solidFill>
                <a:latin typeface="Arial"/>
              </a:rPr>
              <a:t>Standard System / INCLUDED</a:t>
            </a:r>
          </a:p>
          <a:p>
            <a:r>
              <a:rPr sz="1800" b="1">
                <a:solidFill>
                  <a:srgbClr val="EEF1F3"/>
                </a:solidFill>
                <a:latin typeface="Arial"/>
              </a:rPr>
              <a:t>internationalized compiler</a:t>
            </a:r>
          </a:p>
          <a:p>
            <a:r>
              <a:rPr sz="1800" b="1">
                <a:solidFill>
                  <a:srgbClr val="EEF1F3"/>
                </a:solidFill>
                <a:latin typeface="Arial"/>
              </a:rPr>
              <a:t>GNU Emacs / a kernel</a:t>
            </a:r>
          </a:p>
          <a:p>
            <a:r>
              <a:rPr sz="1800" b="1">
                <a:solidFill>
                  <a:srgbClr val="EEF1F3"/>
                </a:solidFill>
                <a:latin typeface="Arial"/>
              </a:rPr>
              <a:t>CUDA or CPython wrap</a:t>
            </a:r>
          </a:p>
          <a:p>
            <a:r>
              <a:rPr sz="1800" b="1">
                <a:solidFill>
                  <a:srgbClr val="EEF1F3"/>
                </a:solidFill>
                <a:latin typeface="Arial"/>
              </a:rPr>
              <a:t>header deps (#211)</a:t>
            </a:r>
          </a:p>
          <a:p>
            <a:r>
              <a:rPr sz="1800" b="1">
                <a:solidFill>
                  <a:srgbClr val="EEF1F3"/>
                </a:solidFill>
                <a:latin typeface="Arial"/>
              </a:rPr>
              <a:t>5.0 One IR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nanolang-mascot.png"/>
          <p:cNvPicPr>
            <a:picLocks noChangeAspect="1"/>
          </p:cNvPicPr>
          <p:nvPr/>
        </p:nvPicPr>
        <p:blipFill>
          <a:blip r:embed="rId2"/>
          <a:stretch>
            <a:fillRect/>
          </a:stretch>
        </p:blipFill>
        <p:spPr>
          <a:xfrm>
            <a:off x="7955279" y="731520"/>
            <a:ext cx="3474720" cy="5212080"/>
          </a:xfrm>
          <a:prstGeom prst="rect">
            <a:avLst/>
          </a:prstGeom>
        </p:spPr>
      </p:pic>
      <p:sp>
        <p:nvSpPr>
          <p:cNvPr id="4" name="TextBox 3"/>
          <p:cNvSpPr txBox="1"/>
          <p:nvPr/>
        </p:nvSpPr>
        <p:spPr>
          <a:xfrm>
            <a:off x="685800" y="1554480"/>
            <a:ext cx="6766560" cy="1280160"/>
          </a:xfrm>
          <a:prstGeom prst="rect">
            <a:avLst/>
          </a:prstGeom>
          <a:noFill/>
        </p:spPr>
        <p:txBody>
          <a:bodyPr wrap="square" lIns="45720" rIns="45720" tIns="27432" bIns="27432" anchor="t">
            <a:spAutoFit/>
          </a:bodyPr>
          <a:lstStyle/>
          <a:p>
            <a:r>
              <a:rPr sz="3400" b="1">
                <a:solidFill>
                  <a:srgbClr val="EEF1F3"/>
                </a:solidFill>
                <a:latin typeface="Arial"/>
              </a:rPr>
              <a:t>Start with the code.</a:t>
            </a:r>
          </a:p>
          <a:p>
            <a:r>
              <a:rPr sz="3400" b="1">
                <a:solidFill>
                  <a:srgbClr val="EEF1F3"/>
                </a:solidFill>
                <a:latin typeface="Arial"/>
              </a:rPr>
              <a:t>Then run the gates.</a:t>
            </a:r>
          </a:p>
        </p:txBody>
      </p:sp>
      <p:sp>
        <p:nvSpPr>
          <p:cNvPr id="5" name="TextBox 4"/>
          <p:cNvSpPr txBox="1"/>
          <p:nvPr/>
        </p:nvSpPr>
        <p:spPr>
          <a:xfrm>
            <a:off x="731520" y="3657600"/>
            <a:ext cx="6858000" cy="365760"/>
          </a:xfrm>
          <a:prstGeom prst="rect">
            <a:avLst/>
          </a:prstGeom>
          <a:noFill/>
        </p:spPr>
        <p:txBody>
          <a:bodyPr wrap="square" lIns="45720" rIns="45720" tIns="27432" bIns="27432" anchor="t">
            <a:spAutoFit/>
          </a:bodyPr>
          <a:lstStyle/>
          <a:p>
            <a:r>
              <a:rPr sz="1800" b="1">
                <a:solidFill>
                  <a:srgbClr val="FF6B35"/>
                </a:solidFill>
                <a:latin typeface="Courier New"/>
              </a:rPr>
              <a:t>read · change · shadow-test · verify · measure</a:t>
            </a:r>
          </a:p>
        </p:txBody>
      </p:sp>
      <p:sp>
        <p:nvSpPr>
          <p:cNvPr id="6" name="TextBox 5"/>
          <p:cNvSpPr txBox="1"/>
          <p:nvPr/>
        </p:nvSpPr>
        <p:spPr>
          <a:xfrm>
            <a:off x="731520" y="4800600"/>
            <a:ext cx="6949440" cy="365760"/>
          </a:xfrm>
          <a:prstGeom prst="rect">
            <a:avLst/>
          </a:prstGeom>
          <a:noFill/>
        </p:spPr>
        <p:txBody>
          <a:bodyPr wrap="square" lIns="45720" rIns="45720" tIns="27432" bIns="27432" anchor="t">
            <a:spAutoFit/>
          </a:bodyPr>
          <a:lstStyle/>
          <a:p>
            <a:r>
              <a:rPr sz="1200" b="0">
                <a:solidFill>
                  <a:srgbClr val="72B7D6"/>
                </a:solidFill>
                <a:latin typeface="Courier New"/>
              </a:rPr>
              <a:t>docs/RELEASE_4.4.md · docs/ROADMAP.md · docs/NSI_FABRIC.md</a:t>
            </a:r>
          </a:p>
        </p:txBody>
      </p:sp>
      <p:sp>
        <p:nvSpPr>
          <p:cNvPr id="7" name="TextBox 6"/>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8" name="TextBox 7"/>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