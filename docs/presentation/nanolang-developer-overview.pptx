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docs/PERSONA.md, README.md, docs/RELEASE_5.1.md.</a:t>
            </a:r>
          </a:p>
          <a:p>
            <a:r>
              <a:t>I am a language with a runtime under development. My release scope does not establish production isolation.</a:t>
            </a:r>
          </a:p>
          <a:p>
            <a:r>
              <a:t>I describe tested behavior. Work I have not done is labelled as such.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docs/PERSONA.md and docs/CANONICAL_STYLE.md.</a:t>
            </a:r>
          </a:p>
          <a:p>
            <a:r>
              <a:t>My project policy requires useful shadows. My compiler normally warns about missing tests, with documented exemptions.</a:t>
            </a:r>
          </a:p>
          <a:p>
            <a:r>
              <a:t>A shadow tests its assertions; it does not prove every input. Compiler acceptance is not proof of correctness.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docs/NANOISA_ONLY.md, src/nanovirt/main.c and src_nano/compiler/nanoisa_codegen.nano.</a:t>
            </a:r>
          </a:p>
          <a:p>
            <a:r>
              <a:t>LLVM and Wasm are additional consumers of the same verified module; this slide keeps the main product path readable.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spec/nanoisa.yaml, scripts/gen_nanoisa_schema.py, src/nanoisa/assembler.c, src/nanoisa/disassembler.c.</a:t>
            </a:r>
          </a:p>
          <a:p>
            <a:r>
              <a:t>Canonical disassembly reassembles to byte-identical bytecode; make test-disasm-roundtrip.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src/nanoisa/nvm_format_v2.[ch], src/nanoisa/nvm_v2_*.c, docs/NANOISA.md.</a:t>
            </a:r>
          </a:p>
          <a:p>
            <a:r>
              <a:t>Subtraction form is the point: an offset near the top of the range cannot wrap into it.</a:t>
            </a:r>
          </a:p>
          <a:p>
            <a:r>
              <a:t>An explicit length is why a string holding an embedded zero survives a round trip.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src/nanoisa/verifier.c, src/nanoisa/verifier_types.c, tests/nanoisa/test_verifier.c (93 tests).</a:t>
            </a:r>
          </a:p>
          <a:p>
            <a:r>
              <a:t>Imported signatures are declarations, not proof of foreign behavior. My abstract reference counter does not identify objects.</a:t>
            </a:r>
          </a:p>
          <a:p>
            <a:r>
              <a:t>Formal NanoCore theorems and compiler correspondence are separate boundaries; see formal/README.md and docs/ROADMAP.md.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docs/RELEASE_4.0.md and the fix in src/nanoisa/verifier.c.</a:t>
            </a:r>
          </a:p>
          <a:p>
            <a:r>
              <a:t>Fixing it exposed a second bug in the same walk and then eight latent codegen bugs it had hidden.</a:t>
            </a:r>
          </a:p>
          <a:p>
            <a:r>
              <a:t>An unknown effect is now a hard failure: absence of data must not read as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tests/nanoisa/test_fuzz_malformed.c, tests/nanovm/test_cop_fuzz.c, tests/fuzzing/README.md.</a:t>
            </a:r>
          </a:p>
          <a:p>
            <a:r>
              <a:t>I distinguish deterministic malformed-input testing, seed replay and mutation campaigns.</a:t>
            </a:r>
          </a:p>
          <a:p>
            <a:r>
              <a:t>Wrapping arithmetic was removed from code-range and section validation, not merely guarded.</a:t>
            </a:r>
          </a:p>
          <a:p>
            <a:r>
              <a:t>This slide is the systemic answer to slide 7: a verifier that is correct is still only one layer.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src/nanovm/vm.c, docs/NANOISA_MEASUREMENTS.md, make test-dispatch-equivalence.</a:t>
            </a:r>
          </a:p>
          <a:p>
            <a:r>
              <a:t>Shared handler bodies reduce duplication; execution equivalence still needs tests.</a:t>
            </a:r>
          </a:p>
          <a:p>
            <a:r>
              <a:t>The threaded build has no loop around the handlers, so a stray break is a compile error rather than a silent exit.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CONTRIBUTING.md, docs/CANONICAL_STYLE.md, tests/test_language_claims.py and examples/gcd.nano.</a:t>
            </a:r>
          </a:p>
          <a:p>
            <a:r>
              <a:t>CPU exemptions include externs, main, generated lambdas and functions using extern calls. Explicit foreign-call shadows still run.</a:t>
            </a:r>
          </a:p>
          <a:p>
            <a:r>
              <a:t>All three drivers select dependency shadows by default; --root-shadows-only opts out. Test processes have deadlines, not sandboxing.</a:t>
            </a:r>
          </a:p>
          <a:p>
            <a:r>
              <a:t>I exercise nonnegative and zero gcd inputs here. These assertions are not a theorem for all integers.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docs/EXTERN_FFI.md, src/nanovm/vm_ffi.c, src/nanovm/cop_protocol.c, docs/NANOISA_MEASUREMENTS.md.</a:t>
            </a:r>
          </a:p>
          <a:p>
            <a:r>
              <a:t>The FFI boundary is tested; it is not part of the formally verified NanoCore subset.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src/nanovm/heap_cycles.c, Bacon and Rajan (PLDI 2001), tests/nanovm/test_vm.c.</a:t>
            </a:r>
          </a:p>
          <a:p>
            <a:r>
              <a:t>The generated-C runtime already collected cycles; the VM did not, so the two disagreed about whether a program leaks.</a:t>
            </a:r>
          </a:p>
          <a:p>
            <a:r>
              <a:t>The test that matters most is the one where a reachable cycle must survive and still be readable.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docs/NANOISA_MEASUREMENTS.md and scripts/benchmark_nanoisa.sh.</a:t>
            </a:r>
          </a:p>
          <a:p>
            <a:r>
              <a:t>Before 4.0 the suite timed one process per sample, so every workload took about 17 ms whether it retired 78 instructions or 32,082.</a:t>
            </a:r>
          </a:p>
          <a:p>
            <a:r>
              <a:t>It could not have detected an interpreter change of any size, which is why these questions stayed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docs/NSI.md, docs/NSI_FABRIC.md, docs/NSI_EFFECTS.md, schema/nsi/effect_map.v0.json.</a:t>
            </a:r>
          </a:p>
          <a:p>
            <a:r>
              <a:t>State has no host cap. Err maps to TRAP_ERROR and invents no NSI method.</a:t>
            </a:r>
          </a:p>
          <a:p>
            <a:r>
              <a:t>I do not claim a kernel, AES, PKI, or that the journal is wired into every trap.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docs/RELEASE_5.1.md, docs/NANOISA_ONLY.md, docs/CALLBACK_ABI.md and docs/ROADMAP.md.</a:t>
            </a:r>
          </a:p>
          <a:p>
            <a:r>
              <a:t>The VM fixed point at 0eb94026c compares raw Stage 1 and Stage 2 modules. It does not prove compiler correctness. Final-source VM/native fixed points and complete hosted acceptance remain pending.</a:t>
            </a:r>
          </a:p>
          <a:p>
            <a:r>
              <a:t>Private non-admitting mixed record-array work remains outside the public product contract.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CONTRIBUTING.md, docs/PERSONA.md, docs/ROADMAP.md, docs/RELEASE_5.1.md.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nanolang-masc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0"/>
            <a:ext cx="4873752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8321040" cy="6858000"/>
          </a:xfrm>
          <a:prstGeom prst="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48640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1">
                <a:solidFill>
                  <a:srgbClr val="76B900"/>
                </a:solidFill>
                <a:latin typeface="Arial"/>
              </a:rPr>
              <a:t>NANOLANG 5.1 CANDIDATE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6400800" cy="22860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>
                <a:solidFill>
                  <a:srgbClr val="EEF1F3"/>
                </a:solidFill>
                <a:latin typeface="Arial"/>
              </a:rPr>
              <a:t>I say what I mean.</a:t>
            </a:r>
          </a:p>
          <a:p>
            <a:r>
              <a:rPr sz="3400" b="1">
                <a:solidFill>
                  <a:srgbClr val="EEF1F3"/>
                </a:solidFill>
                <a:latin typeface="Arial"/>
              </a:rPr>
              <a:t>I compile myself.</a:t>
            </a:r>
          </a:p>
          <a:p>
            <a:r>
              <a:rPr sz="3400" b="1">
                <a:solidFill>
                  <a:srgbClr val="EEF1F3"/>
                </a:solidFill>
                <a:latin typeface="Arial"/>
              </a:rPr>
              <a:t>I show my evidence.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977639"/>
            <a:ext cx="685800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0">
                <a:solidFill>
                  <a:srgbClr val="72B7D6"/>
                </a:solidFill>
                <a:latin typeface="Arial"/>
              </a:rPr>
              <a:t>A small language designed to be written by machines and audited by humans.</a:t>
            </a:r>
          </a:p>
          <a:p>
            <a:r>
              <a:rPr sz="1600" b="0">
                <a:solidFill>
                  <a:srgbClr val="72B7D6"/>
                </a:solidFill>
                <a:latin typeface="Arial"/>
              </a:rPr>
              <a:t>A developer's view of my syntax, compiler, NanoISA, and runtime foundations on POSIX.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989320"/>
            <a:ext cx="65836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1">
                <a:solidFill>
                  <a:srgbClr val="FF6B35"/>
                </a:solidFill>
                <a:latin typeface="Arial"/>
              </a:rPr>
              <a:t>Verified bytecode · NSI · capabilities · fabric · trap journal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101317"/>
                </a:solidFill>
                <a:latin typeface="Arial"/>
              </a:rPr>
              <a:t>I make calls and test obligations explicit.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65707C"/>
                </a:solidFill>
                <a:latin typeface="Arial"/>
              </a:rPr>
              <a:t>I recommend canonical forms; my parser also accepts legacy syntax.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194560"/>
            <a:ext cx="3200400" cy="182880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28346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>
                <a:solidFill>
                  <a:srgbClr val="FF6B35"/>
                </a:solidFill>
                <a:latin typeface="Arial"/>
              </a:rPr>
              <a:t>PREFIX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28346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000" b="1">
                <a:solidFill>
                  <a:srgbClr val="EEF1F3"/>
                </a:solidFill>
                <a:latin typeface="Courier New"/>
              </a:rPr>
              <a:t>(f x 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2194560"/>
            <a:ext cx="3200400" cy="182880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2468880"/>
            <a:ext cx="28346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>
                <a:solidFill>
                  <a:srgbClr val="FF6B35"/>
                </a:solidFill>
                <a:latin typeface="Arial"/>
              </a:rPr>
              <a:t>TYPES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971800"/>
            <a:ext cx="28346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000" b="1">
                <a:solidFill>
                  <a:srgbClr val="EEF1F3"/>
                </a:solidFill>
                <a:latin typeface="Courier New"/>
              </a:rPr>
              <a:t>int · float · bool · string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2194560"/>
            <a:ext cx="3200400" cy="182880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0" y="2468880"/>
            <a:ext cx="28346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>
                <a:solidFill>
                  <a:srgbClr val="FF6B35"/>
                </a:solidFill>
                <a:latin typeface="Arial"/>
              </a:rPr>
              <a:t>TESTS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2971800"/>
            <a:ext cx="28346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000" b="1">
                <a:solidFill>
                  <a:srgbClr val="EEF1F3"/>
                </a:solidFill>
                <a:latin typeface="Courier New"/>
              </a:rPr>
              <a:t>shadow gcd { ... 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EEF1F3"/>
                </a:solidFill>
                <a:latin typeface="Arial"/>
              </a:rPr>
              <a:t>One verified product, several consumers.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72B7D6"/>
                </a:solidFill>
                <a:latin typeface="Arial"/>
              </a:rPr>
              <a:t>Both frontends lower to NanoISA; execution and AOT begin from the same module.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377440"/>
            <a:ext cx="2240280" cy="123444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578608"/>
            <a:ext cx="196596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FF6B35"/>
                </a:solidFill>
                <a:latin typeface="Courier New"/>
              </a:rPr>
              <a:t>.nano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196596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>
                <a:solidFill>
                  <a:srgbClr val="EEF1F3"/>
                </a:solidFill>
                <a:latin typeface="Arial"/>
              </a:rPr>
              <a:t>source + shadows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2377440"/>
            <a:ext cx="2240280" cy="123444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79" y="2578608"/>
            <a:ext cx="196596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6B900"/>
                </a:solidFill>
                <a:latin typeface="Courier New"/>
              </a:rPr>
              <a:t>nanoc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79" y="2926080"/>
            <a:ext cx="196596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>
                <a:solidFill>
                  <a:srgbClr val="EEF1F3"/>
                </a:solidFill>
                <a:latin typeface="Arial"/>
              </a:rPr>
              <a:t>verified .nvm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2377440"/>
            <a:ext cx="2240280" cy="123444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578608"/>
            <a:ext cx="196596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EEF1F3"/>
                </a:solidFill>
                <a:latin typeface="Courier New"/>
              </a:rPr>
              <a:t>nano_vm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926080"/>
            <a:ext cx="196596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>
                <a:solidFill>
                  <a:srgbClr val="EEF1F3"/>
                </a:solidFill>
                <a:latin typeface="Arial"/>
              </a:rPr>
              <a:t>direct execution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59" y="2377440"/>
            <a:ext cx="2240280" cy="123444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89719" y="2578608"/>
            <a:ext cx="196596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2B7D6"/>
                </a:solidFill>
                <a:latin typeface="Courier New"/>
              </a:rPr>
              <a:t>nvm2c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19" y="2926080"/>
            <a:ext cx="196596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>
                <a:solidFill>
                  <a:srgbClr val="EEF1F3"/>
                </a:solidFill>
                <a:latin typeface="Arial"/>
              </a:rPr>
              <a:t>C11 → native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4754880"/>
            <a:ext cx="45720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2100" b="1">
                <a:solidFill>
                  <a:srgbClr val="FF6B35"/>
                </a:solidFill>
                <a:latin typeface="Courier New"/>
              </a:rPr>
              <a:t>compile → verify → execute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101317"/>
                </a:solidFill>
                <a:latin typeface="Arial"/>
              </a:rPr>
              <a:t>NanoISA is readable bytecode, not a hidden intermediate.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65707C"/>
                </a:solidFill>
                <a:latin typeface="Arial"/>
              </a:rPr>
              <a:t>I keep the serialized module inspectable and use decoded forms only inside execution.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20240"/>
            <a:ext cx="5212080" cy="338328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31720"/>
            <a:ext cx="4663440" cy="2011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700" b="0">
                <a:solidFill>
                  <a:srgbClr val="EEF1F3"/>
                </a:solidFill>
                <a:latin typeface="Courier New"/>
              </a:rPr>
              <a:t>.function main 0 0 0 int 1</a:t>
            </a:r>
          </a:p>
          <a:p>
            <a:r>
              <a:rPr sz="1700" b="0">
                <a:solidFill>
                  <a:srgbClr val="EEF1F3"/>
                </a:solidFill>
                <a:latin typeface="Courier New"/>
              </a:rPr>
              <a:t>  PUSH_I64 40</a:t>
            </a:r>
          </a:p>
          <a:p>
            <a:r>
              <a:rPr sz="1700" b="0">
                <a:solidFill>
                  <a:srgbClr val="EEF1F3"/>
                </a:solidFill>
                <a:latin typeface="Courier New"/>
              </a:rPr>
              <a:t>  PUSH_I64 2</a:t>
            </a:r>
          </a:p>
          <a:p>
            <a:r>
              <a:rPr sz="1700" b="0">
                <a:solidFill>
                  <a:srgbClr val="EEF1F3"/>
                </a:solidFill>
                <a:latin typeface="Courier New"/>
              </a:rPr>
              <a:t>  I64_MUL</a:t>
            </a:r>
          </a:p>
          <a:p>
            <a:r>
              <a:rPr sz="1700" b="0">
                <a:solidFill>
                  <a:srgbClr val="EEF1F3"/>
                </a:solidFill>
                <a:latin typeface="Courier New"/>
              </a:rPr>
              <a:t>  RET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920240"/>
            <a:ext cx="5257800" cy="3383280"/>
          </a:xfrm>
          <a:prstGeom prst="round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377440"/>
            <a:ext cx="4572000" cy="1645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000" b="1">
                <a:solidFill>
                  <a:srgbClr val="76B900"/>
                </a:solidFill>
                <a:latin typeface="Arial"/>
              </a:rPr>
              <a:t>schema → metadata → assembler</a:t>
            </a:r>
          </a:p>
          <a:p/>
          <a:p>
            <a:r>
              <a:rPr sz="2000" b="1">
                <a:solidFill>
                  <a:srgbClr val="76B900"/>
                </a:solidFill>
                <a:latin typeface="Arial"/>
              </a:rPr>
              <a:t>The source of truth is</a:t>
            </a:r>
          </a:p>
          <a:p>
            <a:r>
              <a:rPr sz="2000" b="1">
                <a:solidFill>
                  <a:srgbClr val="76B900"/>
                </a:solidFill>
                <a:latin typeface="Arial"/>
              </a:rPr>
              <a:t>spec/nanoisa.yaml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EEF1F3"/>
                </a:solidFill>
                <a:latin typeface="Arial"/>
              </a:rPr>
              <a:t>My module format carries the instruction set.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72B7D6"/>
                </a:solidFill>
                <a:latin typeface="Arial"/>
              </a:rPr>
              <a:t>A .nvm file is a v2 container: versioned, bounded, and refused rather than guessed 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148840"/>
            <a:ext cx="2240280" cy="196596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377440"/>
            <a:ext cx="1874519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1">
                <a:solidFill>
                  <a:srgbClr val="76B900"/>
                </a:solidFill>
                <a:latin typeface="Arial"/>
              </a:rPr>
              <a:t>BOUNDED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834640"/>
            <a:ext cx="1874519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every range checked</a:t>
            </a:r>
          </a:p>
          <a:p>
            <a:r>
              <a:rPr sz="1400" b="0">
                <a:solidFill>
                  <a:srgbClr val="EEF1F3"/>
                </a:solidFill>
                <a:latin typeface="Arial"/>
              </a:rPr>
              <a:t>by subtraction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2148840"/>
            <a:ext cx="2240280" cy="196596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2377440"/>
            <a:ext cx="1874519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1">
                <a:solidFill>
                  <a:srgbClr val="72B7D6"/>
                </a:solidFill>
                <a:latin typeface="Arial"/>
              </a:rPr>
              <a:t>TYPED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834640"/>
            <a:ext cx="1874519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signatures deduplicated,</a:t>
            </a:r>
          </a:p>
          <a:p>
            <a:r>
              <a:rPr sz="1400" b="0">
                <a:solidFill>
                  <a:srgbClr val="EEF1F3"/>
                </a:solidFill>
                <a:latin typeface="Arial"/>
              </a:rPr>
              <a:t>indices comparable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2148840"/>
            <a:ext cx="2240280" cy="196596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377440"/>
            <a:ext cx="1874519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1">
                <a:solidFill>
                  <a:srgbClr val="FF6B35"/>
                </a:solidFill>
                <a:latin typeface="Arial"/>
              </a:rPr>
              <a:t>ACYCLIC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834640"/>
            <a:ext cx="1874519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layouts nest only</a:t>
            </a:r>
          </a:p>
          <a:p>
            <a:r>
              <a:rPr sz="1400" b="0">
                <a:solidFill>
                  <a:srgbClr val="EEF1F3"/>
                </a:solidFill>
                <a:latin typeface="Arial"/>
              </a:rPr>
              <a:t>downward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59" y="2148840"/>
            <a:ext cx="2240280" cy="196596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39" y="2377440"/>
            <a:ext cx="1874519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1">
                <a:solidFill>
                  <a:srgbClr val="EEF1F3"/>
                </a:solidFill>
                <a:latin typeface="Arial"/>
              </a:rPr>
              <a:t>EXACT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39" y="2834640"/>
            <a:ext cx="1874519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constants carry</a:t>
            </a:r>
          </a:p>
          <a:p>
            <a:r>
              <a:rPr sz="1400" b="0">
                <a:solidFill>
                  <a:srgbClr val="EEF1F3"/>
                </a:solidFill>
                <a:latin typeface="Arial"/>
              </a:rPr>
              <a:t>explicit lengths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892040"/>
            <a:ext cx="85039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700" b="1">
                <a:solidFill>
                  <a:srgbClr val="FF6B35"/>
                </a:solidFill>
                <a:latin typeface="Courier New"/>
              </a:rPr>
              <a:t>ten sections · a malformed module is refused, never guessed at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101317"/>
                </a:solidFill>
                <a:latin typeface="Arial"/>
              </a:rPr>
              <a:t>My verifier checks modeled invariants before execution.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65707C"/>
                </a:solidFill>
                <a:latin typeface="Arial"/>
              </a:rPr>
              <a:t>These checks are not whole-program proof or complete source ownership.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783080"/>
            <a:ext cx="10515600" cy="603504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938528"/>
            <a:ext cx="26517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6B900"/>
                </a:solidFill>
                <a:latin typeface="Arial"/>
              </a:rPr>
              <a:t>stack height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1938528"/>
            <a:ext cx="72237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through every basic block, merges must agree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532888"/>
            <a:ext cx="10515600" cy="603504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688336"/>
            <a:ext cx="26517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6B900"/>
                </a:solidFill>
                <a:latin typeface="Arial"/>
              </a:rPr>
              <a:t>operand types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2688336"/>
            <a:ext cx="72237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known contradictions are refused; unknown stays unknown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282696"/>
            <a:ext cx="10515600" cy="603504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438144"/>
            <a:ext cx="26517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6B900"/>
                </a:solidFill>
                <a:latin typeface="Arial"/>
              </a:rPr>
              <a:t>return shape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3438144"/>
            <a:ext cx="72237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every exit leaves exactly what the function declares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32504"/>
            <a:ext cx="10515600" cy="603504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187952"/>
            <a:ext cx="26517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6B900"/>
                </a:solidFill>
                <a:latin typeface="Arial"/>
              </a:rPr>
              <a:t>operand depth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4187952"/>
            <a:ext cx="72237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producer declares it, loader confirms 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4782312"/>
            <a:ext cx="10515600" cy="603504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4937759"/>
            <a:ext cx="26517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6B900"/>
                </a:solidFill>
                <a:latin typeface="Arial"/>
              </a:rPr>
              <a:t>reference balance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4937759"/>
            <a:ext cx="72237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explicit retain/release counts, not object identity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EEF1F3"/>
                </a:solidFill>
                <a:latin typeface="Arial"/>
              </a:rPr>
              <a:t>What my verifier used to miss.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72B7D6"/>
                </a:solidFill>
                <a:latin typeface="Arial"/>
              </a:rPr>
              <a:t>It declared stack effects for 32 of its 161 instructions and skipped the rest.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74519"/>
            <a:ext cx="5577840" cy="352044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240280"/>
            <a:ext cx="5029200" cy="2377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700" b="0">
                <a:solidFill>
                  <a:srgbClr val="EEF1F3"/>
                </a:solidFill>
                <a:latin typeface="Courier New"/>
              </a:rPr>
              <a:t>PUSH_I64 1</a:t>
            </a:r>
          </a:p>
          <a:p>
            <a:r>
              <a:rPr sz="1700" b="0">
                <a:solidFill>
                  <a:srgbClr val="EEF1F3"/>
                </a:solidFill>
                <a:latin typeface="Courier New"/>
              </a:rPr>
              <a:t>I64_ADD    ; no declared effect</a:t>
            </a:r>
          </a:p>
          <a:p>
            <a:r>
              <a:rPr sz="1700" b="0">
                <a:solidFill>
                  <a:srgbClr val="EEF1F3"/>
                </a:solidFill>
                <a:latin typeface="Courier New"/>
              </a:rPr>
              <a:t>POP</a:t>
            </a:r>
          </a:p>
          <a:p>
            <a:r>
              <a:rPr sz="1700" b="0">
                <a:solidFill>
                  <a:srgbClr val="EEF1F3"/>
                </a:solidFill>
                <a:latin typeface="Courier New"/>
              </a:rPr>
              <a:t>POP</a:t>
            </a:r>
          </a:p>
          <a:p>
            <a:r>
              <a:rPr sz="1700" b="0">
                <a:solidFill>
                  <a:srgbClr val="EEF1F3"/>
                </a:solidFill>
                <a:latin typeface="Courier New"/>
              </a:rPr>
              <a:t>POP        ; stack held one</a:t>
            </a:r>
          </a:p>
          <a:p>
            <a:r>
              <a:rPr sz="1700" b="0">
                <a:solidFill>
                  <a:srgbClr val="EEF1F3"/>
                </a:solidFill>
                <a:latin typeface="Courier New"/>
              </a:rPr>
              <a:t>RET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709160"/>
            <a:ext cx="50292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800" b="1">
                <a:solidFill>
                  <a:srgbClr val="FF6B35"/>
                </a:solidFill>
                <a:latin typeface="Courier New"/>
              </a:rPr>
              <a:t>verified ok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29400" y="1874519"/>
            <a:ext cx="4846320" cy="3520440"/>
          </a:xfrm>
          <a:prstGeom prst="round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0" y="2240280"/>
            <a:ext cx="4206240" cy="2834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700" b="1">
                <a:solidFill>
                  <a:srgbClr val="EEF1F3"/>
                </a:solidFill>
                <a:latin typeface="Arial"/>
              </a:rPr>
              <a:t>Skipping an instruction</a:t>
            </a:r>
          </a:p>
          <a:p>
            <a:r>
              <a:rPr sz="1700" b="1">
                <a:solidFill>
                  <a:srgbClr val="EEF1F3"/>
                </a:solidFill>
                <a:latin typeface="Arial"/>
              </a:rPr>
              <a:t>also skipped its successors,</a:t>
            </a:r>
          </a:p>
          <a:p>
            <a:r>
              <a:rPr sz="1700" b="1">
                <a:solidFill>
                  <a:srgbClr val="EEF1F3"/>
                </a:solidFill>
                <a:latin typeface="Arial"/>
              </a:rPr>
              <a:t>so the walk stopped there</a:t>
            </a:r>
          </a:p>
          <a:p>
            <a:r>
              <a:rPr sz="1700" b="1">
                <a:solidFill>
                  <a:srgbClr val="EEF1F3"/>
                </a:solidFill>
                <a:latin typeface="Arial"/>
              </a:rPr>
              <a:t>and everything after it</a:t>
            </a:r>
          </a:p>
          <a:p>
            <a:r>
              <a:rPr sz="1700" b="1">
                <a:solidFill>
                  <a:srgbClr val="EEF1F3"/>
                </a:solidFill>
                <a:latin typeface="Arial"/>
              </a:rPr>
              <a:t>went unchecked.</a:t>
            </a:r>
          </a:p>
          <a:p/>
          <a:p>
            <a:r>
              <a:rPr sz="1700" b="1">
                <a:solidFill>
                  <a:srgbClr val="EEF1F3"/>
                </a:solidFill>
                <a:latin typeface="Arial"/>
              </a:rPr>
              <a:t>Absence of evidence was</a:t>
            </a:r>
          </a:p>
          <a:p>
            <a:r>
              <a:rPr sz="1700" b="1">
                <a:solidFill>
                  <a:srgbClr val="EEF1F3"/>
                </a:solidFill>
                <a:latin typeface="Arial"/>
              </a:rPr>
              <a:t>indistinguishable from proof.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101317"/>
                </a:solidFill>
                <a:latin typeface="Arial"/>
              </a:rPr>
              <a:t>I treat every module as hostile input.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65707C"/>
                </a:solidFill>
                <a:latin typeface="Arial"/>
              </a:rPr>
              <a:t>My verifier and parsers have malformed-input tests; their coverage is not universal.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74519"/>
            <a:ext cx="3337560" cy="585216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39112"/>
            <a:ext cx="2926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1">
                <a:solidFill>
                  <a:srgbClr val="76B900"/>
                </a:solidFill>
                <a:latin typeface="Courier New"/>
              </a:rPr>
              <a:t>decoder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874519"/>
            <a:ext cx="3337560" cy="585216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2039112"/>
            <a:ext cx="2926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1">
                <a:solidFill>
                  <a:srgbClr val="76B900"/>
                </a:solidFill>
                <a:latin typeface="Courier New"/>
              </a:rPr>
              <a:t>loader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874519"/>
            <a:ext cx="3337560" cy="585216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2039112"/>
            <a:ext cx="2926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1">
                <a:solidFill>
                  <a:srgbClr val="76B900"/>
                </a:solidFill>
                <a:latin typeface="Courier New"/>
              </a:rPr>
              <a:t>verifier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624327"/>
            <a:ext cx="3337560" cy="585216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788920"/>
            <a:ext cx="2926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1">
                <a:solidFill>
                  <a:srgbClr val="76B900"/>
                </a:solidFill>
                <a:latin typeface="Courier New"/>
              </a:rPr>
              <a:t>assembler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2624327"/>
            <a:ext cx="3337560" cy="585216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7720" y="2788920"/>
            <a:ext cx="2926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1">
                <a:solidFill>
                  <a:srgbClr val="76B900"/>
                </a:solidFill>
                <a:latin typeface="Courier New"/>
              </a:rPr>
              <a:t>disassembler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2624327"/>
            <a:ext cx="3337560" cy="585216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2788920"/>
            <a:ext cx="2926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1">
                <a:solidFill>
                  <a:srgbClr val="76B900"/>
                </a:solidFill>
                <a:latin typeface="Courier New"/>
              </a:rPr>
              <a:t>co-process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520440"/>
            <a:ext cx="10652760" cy="182880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3794760"/>
            <a:ext cx="100584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000" b="1">
                <a:solidFill>
                  <a:srgbClr val="FF6B35"/>
                </a:solidFill>
                <a:latin typeface="Courier New"/>
              </a:rPr>
              <a:t>offset &gt; total || size &gt; total - offset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4343400"/>
            <a:ext cx="1005840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0">
                <a:solidFill>
                  <a:srgbClr val="EEF1F3"/>
                </a:solidFill>
                <a:latin typeface="Arial"/>
              </a:rPr>
              <a:t>I bound the offset before subtracting. An unchecked addition or subtraction can wrap. My deterministic malformed-input suites exercise these parsing boundaries; passing their cases is not proof for arbitrary bytes or an unlimited fuzzing campaign.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5623560"/>
            <a:ext cx="85039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700" b="1">
                <a:solidFill>
                  <a:srgbClr val="FF6B35"/>
                </a:solidFill>
                <a:latin typeface="Courier New"/>
              </a:rPr>
              <a:t>Malformed-input tests are evidence, not universal safety proofs.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101317"/>
                </a:solidFill>
                <a:latin typeface="Arial"/>
              </a:rPr>
              <a:t>I dispatch through a label table, and keep a portable fallback.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65707C"/>
                </a:solidFill>
                <a:latin typeface="Arial"/>
              </a:rPr>
              <a:t>Historical 4.0 measurement: one handler body, two dispatch strategies.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65960"/>
            <a:ext cx="5212080" cy="274320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40280"/>
            <a:ext cx="46634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>
                <a:solidFill>
                  <a:srgbClr val="76B900"/>
                </a:solidFill>
                <a:latin typeface="Arial"/>
              </a:rPr>
              <a:t>COMPUTED GOTO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697480"/>
            <a:ext cx="4663440" cy="1645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0">
                <a:solidFill>
                  <a:srgbClr val="EEF1F3"/>
                </a:solidFill>
                <a:latin typeface="Arial"/>
              </a:rPr>
              <a:t>one indirect branch per opcode</a:t>
            </a:r>
          </a:p>
          <a:p/>
          <a:p>
            <a:r>
              <a:rPr sz="1600" b="0">
                <a:solidFill>
                  <a:srgbClr val="EEF1F3"/>
                </a:solidFill>
                <a:latin typeface="Arial"/>
              </a:rPr>
              <a:t>-4.2% on my Forth interpreter</a:t>
            </a:r>
          </a:p>
          <a:p>
            <a:r>
              <a:rPr sz="1600" b="0">
                <a:solidFill>
                  <a:srgbClr val="EEF1F3"/>
                </a:solidFill>
                <a:latin typeface="Arial"/>
              </a:rPr>
              <a:t>against a 1.0-1.6% noise band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965960"/>
            <a:ext cx="5029200" cy="2743200"/>
          </a:xfrm>
          <a:prstGeom prst="round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2240280"/>
            <a:ext cx="44805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>
                <a:solidFill>
                  <a:srgbClr val="72B7D6"/>
                </a:solidFill>
                <a:latin typeface="Arial"/>
              </a:rPr>
              <a:t>PORTABLE SWITCH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697480"/>
            <a:ext cx="4480560" cy="1645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0">
                <a:solidFill>
                  <a:srgbClr val="EEF1F3"/>
                </a:solidFill>
                <a:latin typeface="Arial"/>
              </a:rPr>
              <a:t>any compiler without</a:t>
            </a:r>
          </a:p>
          <a:p>
            <a:r>
              <a:rPr sz="1600" b="0">
                <a:solidFill>
                  <a:srgbClr val="EEF1F3"/>
                </a:solidFill>
                <a:latin typeface="Arial"/>
              </a:rPr>
              <a:t>labels as values</a:t>
            </a:r>
          </a:p>
          <a:p/>
          <a:p>
            <a:r>
              <a:rPr sz="1600" b="0">
                <a:solidFill>
                  <a:srgbClr val="EEF1F3"/>
                </a:solidFill>
                <a:latin typeface="Arial"/>
              </a:rPr>
              <a:t>-DNANO_NO_COMPUTED_GOTO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074920"/>
            <a:ext cx="85039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700" b="1">
                <a:solidFill>
                  <a:srgbClr val="FF6B35"/>
                </a:solidFill>
                <a:latin typeface="Courier New"/>
              </a:rPr>
              <a:t>152 programs, both builds, identical output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EEF1F3"/>
                </a:solidFill>
                <a:latin typeface="Arial"/>
              </a:rPr>
              <a:t>I require useful shadows by project policy.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72B7D6"/>
                </a:solidFill>
                <a:latin typeface="Arial"/>
              </a:rPr>
              <a:t>Missing tests normally warn; exemptions are not evidence of correctness.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5303520" cy="347472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48840"/>
            <a:ext cx="475488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0">
                <a:solidFill>
                  <a:srgbClr val="EEF1F3"/>
                </a:solidFill>
                <a:latin typeface="Courier New"/>
              </a:rPr>
              <a:t>fn gcd(a: int, b: int) -&gt; int {</a:t>
            </a:r>
          </a:p>
          <a:p>
            <a:r>
              <a:rPr sz="1600" b="0">
                <a:solidFill>
                  <a:srgbClr val="EEF1F3"/>
                </a:solidFill>
                <a:latin typeface="Courier New"/>
              </a:rPr>
              <a:t>    if (== b 0) { return a }</a:t>
            </a:r>
          </a:p>
          <a:p>
            <a:r>
              <a:rPr sz="1600" b="0">
                <a:solidFill>
                  <a:srgbClr val="EEF1F3"/>
                </a:solidFill>
                <a:latin typeface="Courier New"/>
              </a:rPr>
              <a:t>    return (gcd b (% a b))</a:t>
            </a:r>
          </a:p>
          <a:p>
            <a:r>
              <a:rPr sz="1600" b="0">
                <a:solidFill>
                  <a:srgbClr val="EEF1F3"/>
                </a:solidFill>
                <a:latin typeface="Courier New"/>
              </a:rPr>
              <a:t>}</a:t>
            </a:r>
          </a:p>
          <a:p/>
          <a:p>
            <a:r>
              <a:rPr sz="1600" b="0">
                <a:solidFill>
                  <a:srgbClr val="EEF1F3"/>
                </a:solidFill>
                <a:latin typeface="Courier New"/>
              </a:rPr>
              <a:t>shadow gcd {</a:t>
            </a:r>
          </a:p>
          <a:p>
            <a:r>
              <a:rPr sz="1600" b="0">
                <a:solidFill>
                  <a:srgbClr val="EEF1F3"/>
                </a:solidFill>
                <a:latin typeface="Courier New"/>
              </a:rPr>
              <a:t>    assert (== (gcd 48 18) 6)</a:t>
            </a:r>
          </a:p>
          <a:p>
            <a:r>
              <a:rPr sz="1600" b="0">
                <a:solidFill>
                  <a:srgbClr val="EEF1F3"/>
                </a:solidFill>
                <a:latin typeface="Courier New"/>
              </a:rPr>
              <a:t>    assert (== (gcd 18 0) 18)</a:t>
            </a:r>
          </a:p>
          <a:p>
            <a:r>
              <a:rPr sz="1600" b="0">
                <a:solidFill>
                  <a:srgbClr val="EEF1F3"/>
                </a:solidFill>
                <a:latin typeface="Courier New"/>
              </a:rPr>
              <a:t>    assert (== (gcd 0 0) 0)</a:t>
            </a:r>
          </a:p>
          <a:p>
            <a:r>
              <a:rPr sz="1600" b="0">
                <a:solidFill>
                  <a:srgbClr val="EEF1F3"/>
                </a:solidFill>
                <a:latin typeface="Courier New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2148840"/>
            <a:ext cx="4297680" cy="2011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00" b="1">
                <a:solidFill>
                  <a:srgbClr val="76B900"/>
                </a:solidFill>
                <a:latin typeface="Arial"/>
              </a:rPr>
              <a:t>Useful tests: policy</a:t>
            </a:r>
          </a:p>
          <a:p>
            <a:r>
              <a:rPr sz="2200" b="1">
                <a:solidFill>
                  <a:srgbClr val="76B900"/>
                </a:solidFill>
                <a:latin typeface="Arial"/>
              </a:rPr>
              <a:t>Missing tests: warnings</a:t>
            </a:r>
          </a:p>
          <a:p>
            <a:r>
              <a:rPr sz="2200" b="1">
                <a:solidFill>
                  <a:srgbClr val="76B900"/>
                </a:solidFill>
                <a:latin typeface="Arial"/>
              </a:rPr>
              <a:t>Exemptions: documented</a:t>
            </a:r>
          </a:p>
          <a:p>
            <a:r>
              <a:rPr sz="2200" b="1">
                <a:solidFill>
                  <a:srgbClr val="76B900"/>
                </a:solidFill>
                <a:latin typeface="Arial"/>
              </a:rPr>
              <a:t>Imports: tested by default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4480560"/>
            <a:ext cx="429768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Separate test process;</a:t>
            </a:r>
          </a:p>
          <a:p>
            <a:r>
              <a:rPr sz="1400" b="0">
                <a:solidFill>
                  <a:srgbClr val="EEF1F3"/>
                </a:solidFill>
                <a:latin typeface="Arial"/>
              </a:rPr>
              <a:t>source-only emission skips tests.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101317"/>
                </a:solidFill>
                <a:latin typeface="Arial"/>
              </a:rPr>
              <a:t>FFI is an explicit unsafe boundary.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65707C"/>
                </a:solidFill>
                <a:latin typeface="Arial"/>
              </a:rPr>
              <a:t>Imports carry signatures. The co-process can keep foreign code outside my VM process.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57400"/>
            <a:ext cx="2743200" cy="237744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423160"/>
            <a:ext cx="2286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800" b="1">
                <a:solidFill>
                  <a:srgbClr val="EEF1F3"/>
                </a:solidFill>
                <a:latin typeface="Arial"/>
              </a:rPr>
              <a:t>NanoLang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063240"/>
            <a:ext cx="2286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2B7D6"/>
                </a:solidFill>
                <a:latin typeface="Arial"/>
              </a:rPr>
              <a:t>typed call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2057400"/>
            <a:ext cx="2743200" cy="237744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0" y="2423160"/>
            <a:ext cx="2286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800" b="1">
                <a:solidFill>
                  <a:srgbClr val="EEF1F3"/>
                </a:solidFill>
                <a:latin typeface="Arial"/>
              </a:rPr>
              <a:t>NanoVM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3063240"/>
            <a:ext cx="2286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6B900"/>
                </a:solidFill>
                <a:latin typeface="Arial"/>
              </a:rPr>
              <a:t>typed trap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0" y="2057400"/>
            <a:ext cx="2743200" cy="237744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5400" y="2423160"/>
            <a:ext cx="2286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800" b="1">
                <a:solidFill>
                  <a:srgbClr val="EEF1F3"/>
                </a:solidFill>
                <a:latin typeface="Arial"/>
              </a:rPr>
              <a:t>nano_cop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3063240"/>
            <a:ext cx="228600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FF6B35"/>
                </a:solidFill>
                <a:latin typeface="Arial"/>
              </a:rPr>
              <a:t>foreign process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120640"/>
            <a:ext cx="103327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500" b="0">
                <a:solidFill>
                  <a:srgbClr val="72B7D6"/>
                </a:solidFill>
                <a:latin typeface="Arial"/>
              </a:rPr>
              <a:t>Historical 4.0 measurement: about 48x per crossing in the recorded setup.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EEF1F3"/>
                </a:solidFill>
                <a:latin typeface="Arial"/>
              </a:rPr>
              <a:t>I collect tested reference cycles.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72B7D6"/>
                </a:solidFill>
                <a:latin typeface="Arial"/>
              </a:rPr>
              <a:t>Cycle collection is not complete leak freedom or backend semantic equivalence.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20240"/>
            <a:ext cx="5486400" cy="320040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286000"/>
            <a:ext cx="4937760" cy="2011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0">
                <a:solidFill>
                  <a:srgbClr val="EEF1F3"/>
                </a:solidFill>
                <a:latin typeface="Courier New"/>
              </a:rPr>
              <a:t>struct Node {</a:t>
            </a:r>
          </a:p>
          <a:p>
            <a:r>
              <a:rPr sz="1600" b="0">
                <a:solidFill>
                  <a:srgbClr val="EEF1F3"/>
                </a:solidFill>
                <a:latin typeface="Courier New"/>
              </a:rPr>
              <a:t>  children: array&lt;Node&gt;</a:t>
            </a:r>
          </a:p>
          <a:p>
            <a:r>
              <a:rPr sz="1600" b="0">
                <a:solidFill>
                  <a:srgbClr val="EEF1F3"/>
                </a:solidFill>
                <a:latin typeface="Courier New"/>
              </a:rPr>
              <a:t>}</a:t>
            </a:r>
          </a:p>
          <a:p/>
          <a:p>
            <a:r>
              <a:rPr sz="1600" b="0">
                <a:solidFill>
                  <a:srgbClr val="EEF1F3"/>
                </a:solidFill>
                <a:latin typeface="Courier New"/>
              </a:rPr>
              <a:t>set kids (array_push kids 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37960" y="1920240"/>
            <a:ext cx="4937760" cy="3200400"/>
          </a:xfrm>
          <a:prstGeom prst="round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0" y="2286000"/>
            <a:ext cx="4297680" cy="2560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1">
                <a:solidFill>
                  <a:srgbClr val="EEF1F3"/>
                </a:solidFill>
                <a:latin typeface="Arial"/>
              </a:rPr>
              <a:t>array_push mutates in place,</a:t>
            </a:r>
          </a:p>
          <a:p>
            <a:r>
              <a:rPr sz="1600" b="1">
                <a:solidFill>
                  <a:srgbClr val="EEF1F3"/>
                </a:solidFill>
                <a:latin typeface="Arial"/>
              </a:rPr>
              <a:t>so the field and the local are</a:t>
            </a:r>
          </a:p>
          <a:p>
            <a:r>
              <a:rPr sz="1600" b="1">
                <a:solidFill>
                  <a:srgbClr val="EEF1F3"/>
                </a:solidFill>
                <a:latin typeface="Arial"/>
              </a:rPr>
              <a:t>one object -- and it now</a:t>
            </a:r>
          </a:p>
          <a:p>
            <a:r>
              <a:rPr sz="1600" b="1">
                <a:solidFill>
                  <a:srgbClr val="EEF1F3"/>
                </a:solidFill>
                <a:latin typeface="Arial"/>
              </a:rPr>
              <a:t>contains its own owner.</a:t>
            </a:r>
          </a:p>
          <a:p/>
          <a:p>
            <a:r>
              <a:rPr sz="1600" b="1">
                <a:solidFill>
                  <a:srgbClr val="EEF1F3"/>
                </a:solidFill>
                <a:latin typeface="Arial"/>
              </a:rPr>
              <a:t>Forbidding that shape would</a:t>
            </a:r>
          </a:p>
          <a:p>
            <a:r>
              <a:rPr sz="1600" b="1">
                <a:solidFill>
                  <a:srgbClr val="EEF1F3"/>
                </a:solidFill>
                <a:latin typeface="Arial"/>
              </a:rPr>
              <a:t>forbid trees and graphs.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101317"/>
                </a:solidFill>
                <a:latin typeface="Arial"/>
              </a:rPr>
              <a:t>What I measured, and what I declined because of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65707C"/>
                </a:solidFill>
                <a:latin typeface="Arial"/>
              </a:rPr>
              <a:t>A number without its spread is not evidence. Every claim below carries a noise band.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828800"/>
            <a:ext cx="10515600" cy="566928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965960"/>
            <a:ext cx="31089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EEF1F3"/>
                </a:solidFill>
                <a:latin typeface="Arial"/>
              </a:rPr>
              <a:t>cold startup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1965960"/>
            <a:ext cx="21945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FF6B35"/>
                </a:solidFill>
                <a:latin typeface="Courier New"/>
              </a:rPr>
              <a:t>17.4 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1965960"/>
            <a:ext cx="4389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60-1800x a single execution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542032"/>
            <a:ext cx="10515600" cy="566928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679192"/>
            <a:ext cx="31089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EEF1F3"/>
                </a:solidFill>
                <a:latin typeface="Arial"/>
              </a:rPr>
              <a:t>Forth interpreter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679192"/>
            <a:ext cx="21945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6B900"/>
                </a:solidFill>
                <a:latin typeface="Courier New"/>
              </a:rPr>
              <a:t>282.7 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2679192"/>
            <a:ext cx="4389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IQR 1.6%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255264"/>
            <a:ext cx="10515600" cy="566928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3392424"/>
            <a:ext cx="31089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EEF1F3"/>
                </a:solidFill>
                <a:latin typeface="Arial"/>
              </a:rPr>
              <a:t>computed goto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3392424"/>
            <a:ext cx="21945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6B900"/>
                </a:solidFill>
                <a:latin typeface="Courier New"/>
              </a:rPr>
              <a:t>-4.2%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3392424"/>
            <a:ext cx="4389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accepted: beats the band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3968496"/>
            <a:ext cx="10515600" cy="566928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4105656"/>
            <a:ext cx="31089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EEF1F3"/>
                </a:solidFill>
                <a:latin typeface="Arial"/>
              </a:rPr>
              <a:t>split tag stacks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4105656"/>
            <a:ext cx="21945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65707C"/>
                </a:solidFill>
                <a:latin typeface="Courier New"/>
              </a:rPr>
              <a:t>unmeasurable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4105656"/>
            <a:ext cx="4389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declined: band is 5-10%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681728"/>
            <a:ext cx="10515600" cy="566928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818888"/>
            <a:ext cx="31089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EEF1F3"/>
                </a:solidFill>
                <a:latin typeface="Arial"/>
              </a:rPr>
              <a:t>trap stack ranges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4818888"/>
            <a:ext cx="21945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65707C"/>
                </a:solidFill>
                <a:latin typeface="Courier New"/>
              </a:rPr>
              <a:t>no effect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4818888"/>
            <a:ext cx="4389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declined: crossing is 48x the copy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101317"/>
                </a:solidFill>
                <a:latin typeface="Arial"/>
              </a:rPr>
              <a:t>I build runtime foundations on an ordinary kernel.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65707C"/>
                </a:solidFill>
                <a:latin typeface="Arial"/>
              </a:rPr>
              <a:t>Contracts, capabilities, a POSIX fabric, and a journal. Laboratory evidence, not production isolation.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965960"/>
            <a:ext cx="2103120" cy="155448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2194560"/>
            <a:ext cx="1874519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>
                <a:solidFill>
                  <a:srgbClr val="76B900"/>
                </a:solidFill>
                <a:latin typeface="Courier New"/>
              </a:rPr>
              <a:t>EFFECT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2651760"/>
            <a:ext cx="1874519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source row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8920" y="1965960"/>
            <a:ext cx="2103120" cy="155448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98648" y="2194560"/>
            <a:ext cx="1874519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>
                <a:solidFill>
                  <a:srgbClr val="76B900"/>
                </a:solidFill>
                <a:latin typeface="Courier New"/>
              </a:rPr>
              <a:t>MANIFEST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8648" y="2651760"/>
            <a:ext cx="1874519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required caps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4920" y="1965960"/>
            <a:ext cx="2103120" cy="155448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84648" y="2194560"/>
            <a:ext cx="1874519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>
                <a:solidFill>
                  <a:srgbClr val="76B900"/>
                </a:solidFill>
                <a:latin typeface="Courier New"/>
              </a:rPr>
              <a:t>TRAP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84648" y="2651760"/>
            <a:ext cx="1874519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NanoISA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60920" y="1965960"/>
            <a:ext cx="2103120" cy="155448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70648" y="2194560"/>
            <a:ext cx="1874519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>
                <a:solidFill>
                  <a:srgbClr val="76B900"/>
                </a:solidFill>
                <a:latin typeface="Courier New"/>
              </a:rPr>
              <a:t>NSI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70648" y="2651760"/>
            <a:ext cx="1874519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method id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46920" y="1965960"/>
            <a:ext cx="2103120" cy="155448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56648" y="2194560"/>
            <a:ext cx="1874519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>
                <a:solidFill>
                  <a:srgbClr val="76B900"/>
                </a:solidFill>
                <a:latin typeface="Courier New"/>
              </a:rPr>
              <a:t>CAP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56648" y="2651760"/>
            <a:ext cx="1874519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checked handle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794760"/>
            <a:ext cx="11155680" cy="1965960"/>
          </a:xfrm>
          <a:prstGeom prst="round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023360"/>
            <a:ext cx="20116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>
                <a:solidFill>
                  <a:srgbClr val="FF6B35"/>
                </a:solidFill>
                <a:latin typeface="Arial"/>
              </a:rPr>
              <a:t>JOURNAL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434840"/>
            <a:ext cx="1051560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0">
                <a:solidFill>
                  <a:srgbClr val="EEF1F3"/>
                </a:solidFill>
                <a:latin typeface="Arial"/>
              </a:rPr>
              <a:t>Record at the trap. Replay the recorded result. Do not call the original service.</a:t>
            </a:r>
          </a:p>
          <a:p>
            <a:r>
              <a:rPr sz="1500" b="0">
                <a:solidFill>
                  <a:srgbClr val="EEF1F3"/>
                </a:solidFill>
                <a:latin typeface="Arial"/>
              </a:rPr>
              <a:t>SHA-256 + HMAC with a deployment key. Sequence checkpoints, not heap snapshots.</a:t>
            </a:r>
          </a:p>
          <a:p>
            <a:r>
              <a:rPr sz="1500" b="0">
                <a:solidFill>
                  <a:srgbClr val="EEF1F3"/>
                </a:solidFill>
                <a:latin typeface="Arial"/>
              </a:rPr>
              <a:t>Tested C library in 4.5. Not a hook on every vm.c trap. POSIX is the host.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EEF1F3"/>
                </a:solidFill>
                <a:latin typeface="Arial"/>
              </a:rPr>
              <a:t>My 5.1 One IR contract, with boundaries intact.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72B7D6"/>
                </a:solidFill>
                <a:latin typeface="Arial"/>
              </a:rPr>
              <a:t>My implementation has pinned evidence; final release qualification remains open.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5166360" cy="356616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48840"/>
            <a:ext cx="44805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6B900"/>
                </a:solidFill>
                <a:latin typeface="Arial"/>
              </a:rPr>
              <a:t>5.1 CANDIDATE SCOPE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651760"/>
            <a:ext cx="4297680" cy="2377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800" b="1">
                <a:solidFill>
                  <a:srgbClr val="EEF1F3"/>
                </a:solidFill>
                <a:latin typeface="Arial"/>
              </a:rPr>
              <a:t>verified .nvm default</a:t>
            </a:r>
          </a:p>
          <a:p>
            <a:r>
              <a:rPr sz="1800" b="1">
                <a:solidFill>
                  <a:srgbClr val="EEF1F3"/>
                </a:solidFill>
                <a:latin typeface="Arial"/>
              </a:rPr>
              <a:t>raw compiler fixed point</a:t>
            </a:r>
          </a:p>
          <a:p>
            <a:r>
              <a:rPr sz="1800" b="1">
                <a:solidFill>
                  <a:srgbClr val="EEF1F3"/>
                </a:solidFill>
                <a:latin typeface="Arial"/>
              </a:rPr>
              <a:t>C11 / LLVM / Wasm</a:t>
            </a:r>
          </a:p>
          <a:p>
            <a:r>
              <a:rPr sz="1800" b="1">
                <a:solidFill>
                  <a:srgbClr val="EEF1F3"/>
                </a:solidFill>
                <a:latin typeface="Arial"/>
              </a:rPr>
              <a:t>concrete union identity</a:t>
            </a:r>
          </a:p>
          <a:p>
            <a:r>
              <a:rPr sz="1800" b="1">
                <a:solidFill>
                  <a:srgbClr val="EEF1F3"/>
                </a:solidFill>
                <a:latin typeface="Arial"/>
              </a:rPr>
              <a:t>affine ownership facts</a:t>
            </a:r>
          </a:p>
          <a:p>
            <a:r>
              <a:rPr sz="1800" b="1">
                <a:solidFill>
                  <a:srgbClr val="EEF1F3"/>
                </a:solidFill>
                <a:latin typeface="Arial"/>
              </a:rPr>
              <a:t>lifetime-safe callbacks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828800"/>
            <a:ext cx="5166360" cy="3566160"/>
          </a:xfrm>
          <a:prstGeom prst="round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148840"/>
            <a:ext cx="44805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FF6B35"/>
                </a:solidFill>
                <a:latin typeface="Arial"/>
              </a:rPr>
              <a:t>EXPLICIT LIMITS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651760"/>
            <a:ext cx="4297680" cy="2377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800" b="1">
                <a:solidFill>
                  <a:srgbClr val="EEF1F3"/>
                </a:solidFill>
                <a:latin typeface="Arial"/>
              </a:rPr>
              <a:t>private mixed graphs</a:t>
            </a:r>
          </a:p>
          <a:p>
            <a:r>
              <a:rPr sz="1800" b="1">
                <a:solidFill>
                  <a:srgbClr val="EEF1F3"/>
                </a:solidFill>
                <a:latin typeface="Arial"/>
              </a:rPr>
              <a:t>conservative refusals</a:t>
            </a:r>
          </a:p>
          <a:p>
            <a:r>
              <a:rPr sz="1800" b="1">
                <a:solidFill>
                  <a:srgbClr val="EEF1F3"/>
                </a:solidFill>
                <a:latin typeface="Arial"/>
              </a:rPr>
              <a:t>no isolated callbacks</a:t>
            </a:r>
          </a:p>
          <a:p>
            <a:r>
              <a:rPr sz="1800" b="1">
                <a:solidFill>
                  <a:srgbClr val="EEF1F3"/>
                </a:solidFill>
                <a:latin typeface="Arial"/>
              </a:rPr>
              <a:t>formal core boundary</a:t>
            </a:r>
          </a:p>
          <a:p>
            <a:r>
              <a:rPr sz="1800" b="1">
                <a:solidFill>
                  <a:srgbClr val="EEF1F3"/>
                </a:solidFill>
                <a:latin typeface="Arial"/>
              </a:rPr>
              <a:t>no kernel claim</a:t>
            </a:r>
          </a:p>
          <a:p>
            <a:r>
              <a:rPr sz="1800" b="1">
                <a:solidFill>
                  <a:srgbClr val="EEF1F3"/>
                </a:solidFill>
                <a:latin typeface="Arial"/>
              </a:rPr>
              <a:t>no universal backend claim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nanolang-masc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731520"/>
            <a:ext cx="347472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554480"/>
            <a:ext cx="676656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>
                <a:solidFill>
                  <a:srgbClr val="EEF1F3"/>
                </a:solidFill>
                <a:latin typeface="Arial"/>
              </a:rPr>
              <a:t>Start with the code.</a:t>
            </a:r>
          </a:p>
          <a:p>
            <a:r>
              <a:rPr sz="3400" b="1">
                <a:solidFill>
                  <a:srgbClr val="EEF1F3"/>
                </a:solidFill>
                <a:latin typeface="Arial"/>
              </a:rPr>
              <a:t>Then run the gates.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68580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800" b="1">
                <a:solidFill>
                  <a:srgbClr val="FF6B35"/>
                </a:solidFill>
                <a:latin typeface="Courier New"/>
              </a:rPr>
              <a:t>read · change · shadow-test · verify · measure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800600"/>
            <a:ext cx="694944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>
                <a:solidFill>
                  <a:srgbClr val="72B7D6"/>
                </a:solidFill>
                <a:latin typeface="Courier New"/>
              </a:rPr>
              <a:t>docs/RELEASE_5.1.md · docs/NANOISA_ONLY.md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